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1" r:id="rId5"/>
    <p:sldId id="260" r:id="rId6"/>
    <p:sldId id="262" r:id="rId7"/>
    <p:sldId id="263" r:id="rId8"/>
    <p:sldId id="265" r:id="rId9"/>
    <p:sldId id="266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7CB9"/>
    <a:srgbClr val="1DB9CA"/>
    <a:srgbClr val="1FB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94660"/>
  </p:normalViewPr>
  <p:slideViewPr>
    <p:cSldViewPr snapToGrid="0">
      <p:cViewPr varScale="1">
        <p:scale>
          <a:sx n="66" d="100"/>
          <a:sy n="66" d="100"/>
        </p:scale>
        <p:origin x="4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0B429E-09F8-900F-0B69-D78CB6B0C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C710C37-034F-35AE-8D42-DD3A47F83E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28A14D-4C08-1DB9-FB36-182D1EC34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E00EA-0BE9-4A3E-BC03-9F1CA895A202}" type="datetimeFigureOut">
              <a:rPr lang="fr-FR" smtClean="0"/>
              <a:t>10/08/2026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050973-B51C-464F-28EF-62A85A952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F3C585-0231-D679-C34A-920B4A718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E483-E7FA-460D-8375-76263BE8D1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173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729383-C917-5D3B-541E-59B5B6E49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8CCE3C-F9DD-E07C-6DE3-61E98072C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1DD0F2-C0FA-7EC1-BC6B-103F9A72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E00EA-0BE9-4A3E-BC03-9F1CA895A202}" type="datetimeFigureOut">
              <a:rPr lang="fr-FR" smtClean="0"/>
              <a:t>10/08/2026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827C07-E13A-F628-482D-C4D1BB0E9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E8A8D2-34C4-153C-F3F1-82040342E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E483-E7FA-460D-8375-76263BE8D1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7609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8DB591-087A-E19E-5AC7-331CA7517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C354F53-B547-370B-E9AC-730B6D748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922135-004D-75D7-E266-9DE95ABCF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E00EA-0BE9-4A3E-BC03-9F1CA895A202}" type="datetimeFigureOut">
              <a:rPr lang="fr-FR" smtClean="0"/>
              <a:t>10/08/2026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D3B6D4-1BE3-DD49-7601-39F24C8A6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2276BB-A9C6-FB44-A1A0-4D51CE154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E483-E7FA-460D-8375-76263BE8D1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7182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7F481E-1A27-0472-AD5E-26830FEE2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BA765A-5B18-E29F-AE78-0496F38122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75B5A13-58AA-8D83-7F95-914B4BCB2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73A47D3-55F7-D354-2549-0BC4E607F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E00EA-0BE9-4A3E-BC03-9F1CA895A202}" type="datetimeFigureOut">
              <a:rPr lang="fr-FR" smtClean="0"/>
              <a:t>10/08/2026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9013058-07EA-0494-C659-215936DDC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BE34456-9701-20AE-A0FE-096F23B45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E483-E7FA-460D-8375-76263BE8D1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2600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F62281-F249-76B7-13F3-23371378C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9476E23-4FFC-E9E5-D3C7-2C151BE5C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BBAC491-49EA-06FB-F5DD-76DE7FF5B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7CEA248-5C6C-0C06-1A97-5F56DC9A1E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4DC3BA3-4C17-A462-AB63-0AD060C8C3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E951004-BDE4-AB4E-4AF9-A29E1AB87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E00EA-0BE9-4A3E-BC03-9F1CA895A202}" type="datetimeFigureOut">
              <a:rPr lang="fr-FR" smtClean="0"/>
              <a:t>10/08/2026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DE614DF-E5DC-0A4F-477F-37CFE9722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C717DAB-89E5-FE82-00E1-FCA638C6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E483-E7FA-460D-8375-76263BE8D1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4164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33C3F1-3C8E-7337-DC4E-89B4D73A7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6CB27E4-5568-4F85-2530-C2D10F170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E00EA-0BE9-4A3E-BC03-9F1CA895A202}" type="datetimeFigureOut">
              <a:rPr lang="fr-FR" smtClean="0"/>
              <a:t>10/08/2026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719158-44CF-50DB-4A6F-843C73C03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3F782EC-B791-E103-8314-23EA1897E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E483-E7FA-460D-8375-76263BE8D1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4970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A76DDCA-C7C2-97A2-6733-1E36AD926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E00EA-0BE9-4A3E-BC03-9F1CA895A202}" type="datetimeFigureOut">
              <a:rPr lang="fr-FR" smtClean="0"/>
              <a:t>10/08/2026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B22855-2D63-407C-FD8A-585526EF4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B99CB9-BAD6-34D3-3AAA-919AD4166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E483-E7FA-460D-8375-76263BE8D1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6742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D0CFB7-868C-17BD-40C2-91E5AB1CE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841528-1653-ED0E-DACA-CB90081AF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1F09BA9-AADE-D04E-4811-AA78EF01BF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62846C-81F4-19BC-9DCD-5E51B6FDE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E00EA-0BE9-4A3E-BC03-9F1CA895A202}" type="datetimeFigureOut">
              <a:rPr lang="fr-FR" smtClean="0"/>
              <a:t>10/08/2026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4E3E809-1DE1-C1B8-CD66-18712FFC8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7232E4D-DFCC-FDCB-8BD4-8E735BC3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E483-E7FA-460D-8375-76263BE8D1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4813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AF58C4-75ED-568E-7717-B80CC29C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AEC0324-2516-05CE-F6B6-3850C3BAAF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1B79418-4758-E1AB-B63B-73ECE5B357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EF9BDFB-160B-F864-EC74-3C7E519BE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E00EA-0BE9-4A3E-BC03-9F1CA895A202}" type="datetimeFigureOut">
              <a:rPr lang="fr-FR" smtClean="0"/>
              <a:t>10/08/2026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AD24F0E-E519-8E87-9423-9E3803F85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68413F9-479D-38E3-3C3E-116E4F8D9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E483-E7FA-460D-8375-76263BE8D1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4103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BF3A5E-408A-7FDB-2300-F1F70015D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97F0374-FB1D-9569-BACD-99D505206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BAE6A2-461D-8124-90BB-58B9B90B1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E00EA-0BE9-4A3E-BC03-9F1CA895A202}" type="datetimeFigureOut">
              <a:rPr lang="fr-FR" smtClean="0"/>
              <a:t>10/08/2026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F873BF8-0C73-18AB-CAE5-2BB4D4C0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97BA50-F876-F35B-89A0-2708BAC16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E483-E7FA-460D-8375-76263BE8D1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6765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79A5C7D-70CD-5279-DF8E-D4B9D2B13B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EBA8C09-A393-B0C9-B99C-2422F8833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B5394A-AF76-84A4-44D7-231A8F2C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E00EA-0BE9-4A3E-BC03-9F1CA895A202}" type="datetimeFigureOut">
              <a:rPr lang="fr-FR" smtClean="0"/>
              <a:t>10/08/2026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F13CA9-EC7A-6F2B-C81C-B9F1DD1F9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188DAAA-8760-CEE8-E3FE-54F3FB42A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AE483-E7FA-460D-8375-76263BE8D1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5399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0D164DB-33BA-6F10-1685-4037B709C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E843E7-6190-5A10-B002-14B1AF8E5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2A955A-F5E5-3501-7C20-62A53EED2A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FE00EA-0BE9-4A3E-BC03-9F1CA895A202}" type="datetimeFigureOut">
              <a:rPr lang="fr-FR" smtClean="0"/>
              <a:t>10/08/2026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333F02-FD62-F90D-C155-8E05D99BF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E5BF39-9805-79F5-C4AE-7002D7460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6AE483-E7FA-460D-8375-76263BE8D1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1739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B8BB04A1-0F28-7AF3-C60C-5CE677E7E41B}"/>
                  </a:ext>
                </a:extLst>
              </p:cNvPr>
              <p:cNvSpPr txBox="1"/>
              <p:nvPr/>
            </p:nvSpPr>
            <p:spPr>
              <a:xfrm>
                <a:off x="1951624" y="508439"/>
                <a:ext cx="8109592" cy="14598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fr-FR" i="0" smtClean="0">
                          <a:latin typeface="Cambria Math" panose="02040503050406030204" pitchFamily="18" charset="0"/>
                        </a:rPr>
                        <m:t>Let </m:t>
                      </m:r>
                      <m:r>
                        <a:rPr lang="fr-FR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fr-FR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𝕕</m:t>
                          </m:r>
                        </m:sup>
                      </m:sSup>
                      <m:r>
                        <a:rPr lang="fr-FR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𝕕</m:t>
                          </m:r>
                        </m:sup>
                      </m:sSup>
                      <m:r>
                        <a:rPr lang="fr-FR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["/>
                          <m:endChr m:val="]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m:rPr>
                          <m:nor/>
                        </m:rPr>
                        <a:rPr lang="fr-FR" i="0" smtClean="0">
                          <a:latin typeface="Cambria Math" panose="02040503050406030204" pitchFamily="18" charset="0"/>
                        </a:rPr>
                        <m:t> be a model </m:t>
                      </m:r>
                    </m:oMath>
                  </m:oMathPara>
                </a14:m>
                <a:endParaRPr lang="fr-FR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fr-FR" i="0" smtClean="0">
                          <a:latin typeface="Cambria Math" panose="02040503050406030204" pitchFamily="18" charset="0"/>
                        </a:rPr>
                        <m:t>that takes as input the embeddings </m:t>
                      </m:r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nor/>
                        </m:rPr>
                        <a:rPr lang="fr-FR" i="0" smtClean="0">
                          <a:latin typeface="Cambria Math" panose="02040503050406030204" pitchFamily="18" charset="0"/>
                        </a:rPr>
                        <m:t> and </m:t>
                      </m:r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m:rPr>
                          <m:nor/>
                        </m:rPr>
                        <a:rPr lang="fr-FR" i="0" smtClean="0">
                          <a:latin typeface="Cambria Math" panose="02040503050406030204" pitchFamily="18" charset="0"/>
                        </a:rPr>
                        <m:t> of 2 neurons </m:t>
                      </m:r>
                    </m:oMath>
                  </m:oMathPara>
                </a14:m>
                <a:endParaRPr lang="fr-FR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fr-FR" i="0" smtClean="0">
                          <a:latin typeface="Cambria Math" panose="02040503050406030204" pitchFamily="18" charset="0"/>
                        </a:rPr>
                        <m:t>outputs an estimate of the probability that they are connected in the connectome: </m:t>
                      </m:r>
                    </m:oMath>
                  </m:oMathPara>
                </a14:m>
                <a:endParaRPr lang="fr-FR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fr-FR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fr-FR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fr-FR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acc>
                      <m:r>
                        <a:rPr lang="fr-FR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fr-FR" i="1" smtClean="0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sepChr m:val="∣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sSub>
                            <m:sSub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B8BB04A1-0F28-7AF3-C60C-5CE677E7E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624" y="508439"/>
                <a:ext cx="8109592" cy="1459823"/>
              </a:xfrm>
              <a:prstGeom prst="rect">
                <a:avLst/>
              </a:prstGeom>
              <a:blipFill>
                <a:blip r:embed="rId2"/>
                <a:stretch>
                  <a:fillRect l="-376" t="-4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 2" descr="The image displays a bar chart comparing predicted probabilities of connection for ten pairs of neurons against actual observed connection status, indicating a threshold for decision-making.&#10;&#10;Le contenu généré par l’IA peut être incorrect.">
            <a:extLst>
              <a:ext uri="{FF2B5EF4-FFF2-40B4-BE49-F238E27FC236}">
                <a16:creationId xmlns:a16="http://schemas.microsoft.com/office/drawing/2014/main" id="{77288D9E-AE79-2DEE-6AC0-FB544238B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254" y="1968262"/>
            <a:ext cx="80581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217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0D57F410-5AFA-1360-A440-F94D62308ED0}"/>
              </a:ext>
            </a:extLst>
          </p:cNvPr>
          <p:cNvSpPr txBox="1"/>
          <p:nvPr/>
        </p:nvSpPr>
        <p:spPr>
          <a:xfrm>
            <a:off x="524528" y="806596"/>
            <a:ext cx="60970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As the model outputs only a probability indicating whether two neurons are connected, a decision threshold must be defined to convert this probability into a binary prediction.</a:t>
            </a:r>
            <a:endParaRPr lang="fr-FR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CB32F2C-282B-8EC4-AF99-EDFB1686F9D4}"/>
              </a:ext>
            </a:extLst>
          </p:cNvPr>
          <p:cNvSpPr txBox="1"/>
          <p:nvPr/>
        </p:nvSpPr>
        <p:spPr>
          <a:xfrm>
            <a:off x="524528" y="221938"/>
            <a:ext cx="3563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Decision</a:t>
            </a:r>
            <a:r>
              <a:rPr lang="fr-FR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fr-FR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treshold</a:t>
            </a:r>
            <a:r>
              <a:rPr lang="fr-FR" b="1" dirty="0">
                <a:latin typeface="Cambria Math" panose="02040503050406030204" pitchFamily="18" charset="0"/>
                <a:ea typeface="Cambria Math" panose="02040503050406030204" pitchFamily="18" charset="0"/>
              </a:rPr>
              <a:t> :</a:t>
            </a:r>
          </a:p>
        </p:txBody>
      </p:sp>
      <p:pic>
        <p:nvPicPr>
          <p:cNvPr id="3" name="Image 2" descr="The diagram illustrates a comparison between predicted probabilities of connection and actual connection statuses, with thresholds set at T=0.25 and T=0.75, across ten pairs of neurons.&#10;&#10;Le contenu généré par l’IA peut être incorrect.">
            <a:extLst>
              <a:ext uri="{FF2B5EF4-FFF2-40B4-BE49-F238E27FC236}">
                <a16:creationId xmlns:a16="http://schemas.microsoft.com/office/drawing/2014/main" id="{2716E1B7-2BD9-16ED-576E-B9AB4450B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25" y="1789980"/>
            <a:ext cx="80581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33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85406-0DFA-1185-7D7C-533A5C4EA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5D7F292-C8B3-D086-A676-68FD3952E3DD}"/>
              </a:ext>
            </a:extLst>
          </p:cNvPr>
          <p:cNvSpPr txBox="1"/>
          <p:nvPr/>
        </p:nvSpPr>
        <p:spPr>
          <a:xfrm>
            <a:off x="443495" y="95463"/>
            <a:ext cx="4412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Confusion Matrix 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B12C2243-212C-854B-6CA9-00461F04F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467638"/>
              </p:ext>
            </p:extLst>
          </p:nvPr>
        </p:nvGraphicFramePr>
        <p:xfrm>
          <a:off x="443495" y="644043"/>
          <a:ext cx="8127999" cy="12005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34677607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5667782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946872202"/>
                    </a:ext>
                  </a:extLst>
                </a:gridCol>
              </a:tblGrid>
              <a:tr h="397515">
                <a:tc>
                  <a:txBody>
                    <a:bodyPr/>
                    <a:lstStyle/>
                    <a:p>
                      <a:endParaRPr lang="fr-FR" sz="14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1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Predicted</a:t>
                      </a:r>
                      <a:r>
                        <a:rPr lang="fr-FR" sz="14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1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Predicted</a:t>
                      </a:r>
                      <a:r>
                        <a:rPr lang="fr-FR" sz="14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fr-FR" sz="1400" b="1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Negative</a:t>
                      </a:r>
                      <a:endParaRPr lang="fr-FR" sz="14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225331"/>
                  </a:ext>
                </a:extLst>
              </a:tr>
              <a:tr h="432148">
                <a:tc>
                  <a:txBody>
                    <a:bodyPr/>
                    <a:lstStyle/>
                    <a:p>
                      <a:r>
                        <a:rPr lang="fr-FR" sz="1400" b="1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Actual</a:t>
                      </a:r>
                      <a:r>
                        <a:rPr lang="fr-FR" sz="14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TP (True Positive)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FN (False </a:t>
                      </a:r>
                      <a:r>
                        <a:rPr lang="fr-FR" sz="140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Negative</a:t>
                      </a:r>
                      <a:r>
                        <a:rPr lang="fr-FR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860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b="1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Actual</a:t>
                      </a:r>
                      <a:r>
                        <a:rPr lang="fr-FR" sz="14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fr-FR" sz="1400" b="1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Negative</a:t>
                      </a:r>
                      <a:endParaRPr lang="fr-FR" sz="14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FP (False Positive)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TN (True </a:t>
                      </a:r>
                      <a:r>
                        <a:rPr lang="fr-FR" sz="140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Negative</a:t>
                      </a:r>
                      <a:r>
                        <a:rPr lang="fr-FR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697503"/>
                  </a:ext>
                </a:extLst>
              </a:tr>
            </a:tbl>
          </a:graphicData>
        </a:graphic>
      </p:graphicFrame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6B122B6F-53AB-BD55-77FD-617BFE689A62}"/>
              </a:ext>
            </a:extLst>
          </p:cNvPr>
          <p:cNvCxnSpPr>
            <a:cxnSpLocks/>
          </p:cNvCxnSpPr>
          <p:nvPr/>
        </p:nvCxnSpPr>
        <p:spPr>
          <a:xfrm>
            <a:off x="6015624" y="4216111"/>
            <a:ext cx="13121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934C219F-F971-935F-69D7-F461643BA0BF}"/>
                  </a:ext>
                </a:extLst>
              </p:cNvPr>
              <p:cNvSpPr txBox="1"/>
              <p:nvPr/>
            </p:nvSpPr>
            <p:spPr>
              <a:xfrm>
                <a:off x="6055812" y="3741185"/>
                <a:ext cx="12317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=0,75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934C219F-F971-935F-69D7-F461643BA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5812" y="3741185"/>
                <a:ext cx="123172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age 1" descr="The diagram illustrates a comparison between predicted probabilities of connection and actual connection statuses, with thresholds set at T=0.25 and T=0.75, across ten pairs of neurons.&#10;&#10;Le contenu généré par l’IA peut être incorrect.">
            <a:extLst>
              <a:ext uri="{FF2B5EF4-FFF2-40B4-BE49-F238E27FC236}">
                <a16:creationId xmlns:a16="http://schemas.microsoft.com/office/drawing/2014/main" id="{6A99521D-249A-CABC-B43B-C414D6D0E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450" y="2702177"/>
            <a:ext cx="5595774" cy="3108763"/>
          </a:xfrm>
          <a:prstGeom prst="rect">
            <a:avLst/>
          </a:prstGeom>
        </p:spPr>
      </p:pic>
      <p:pic>
        <p:nvPicPr>
          <p:cNvPr id="6" name="Image 5" descr="The confusion matrix displays a comparison of true and predicted labels for connection types, with a threshold of 0.75.&#10;&#10;Le contenu généré par l’IA peut être incorrect.">
            <a:extLst>
              <a:ext uri="{FF2B5EF4-FFF2-40B4-BE49-F238E27FC236}">
                <a16:creationId xmlns:a16="http://schemas.microsoft.com/office/drawing/2014/main" id="{0AC00B55-1FF3-5564-F16C-9E8C787C23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6458" y="2661109"/>
            <a:ext cx="4066929" cy="311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752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57CC5-E48C-8AEC-7D40-228C48418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6EAF2A9-0B24-6E50-0BDF-2E4BC02CF776}"/>
              </a:ext>
            </a:extLst>
          </p:cNvPr>
          <p:cNvSpPr txBox="1"/>
          <p:nvPr/>
        </p:nvSpPr>
        <p:spPr>
          <a:xfrm>
            <a:off x="443495" y="95463"/>
            <a:ext cx="4412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Confusion Matrix 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2A0C6E9F-1FBF-3BC5-7B7C-BB484C713D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095611"/>
              </p:ext>
            </p:extLst>
          </p:nvPr>
        </p:nvGraphicFramePr>
        <p:xfrm>
          <a:off x="443495" y="644043"/>
          <a:ext cx="8080467" cy="12005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34677607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56677825"/>
                    </a:ext>
                  </a:extLst>
                </a:gridCol>
                <a:gridCol w="2661801">
                  <a:extLst>
                    <a:ext uri="{9D8B030D-6E8A-4147-A177-3AD203B41FA5}">
                      <a16:colId xmlns:a16="http://schemas.microsoft.com/office/drawing/2014/main" val="3946872202"/>
                    </a:ext>
                  </a:extLst>
                </a:gridCol>
              </a:tblGrid>
              <a:tr h="397515">
                <a:tc>
                  <a:txBody>
                    <a:bodyPr/>
                    <a:lstStyle/>
                    <a:p>
                      <a:endParaRPr lang="fr-FR" sz="14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1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Predicted</a:t>
                      </a:r>
                      <a:r>
                        <a:rPr lang="fr-FR" sz="14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1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Predicted</a:t>
                      </a:r>
                      <a:r>
                        <a:rPr lang="fr-FR" sz="14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fr-FR" sz="1400" b="1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Negative</a:t>
                      </a:r>
                      <a:endParaRPr lang="fr-FR" sz="14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225331"/>
                  </a:ext>
                </a:extLst>
              </a:tr>
              <a:tr h="432148">
                <a:tc>
                  <a:txBody>
                    <a:bodyPr/>
                    <a:lstStyle/>
                    <a:p>
                      <a:r>
                        <a:rPr lang="fr-FR" sz="1400" b="1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Actual</a:t>
                      </a:r>
                      <a:r>
                        <a:rPr lang="fr-FR" sz="14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TP (True Positive)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FN (False </a:t>
                      </a:r>
                      <a:r>
                        <a:rPr lang="fr-FR" sz="140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Negative</a:t>
                      </a:r>
                      <a:r>
                        <a:rPr lang="fr-FR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860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b="1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Actual</a:t>
                      </a:r>
                      <a:r>
                        <a:rPr lang="fr-FR" sz="14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fr-FR" sz="1400" b="1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Negative</a:t>
                      </a:r>
                      <a:endParaRPr lang="fr-FR" sz="14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FP (False Positive)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TN (True </a:t>
                      </a:r>
                      <a:r>
                        <a:rPr lang="fr-FR" sz="140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Negative</a:t>
                      </a:r>
                      <a:r>
                        <a:rPr lang="fr-FR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697503"/>
                  </a:ext>
                </a:extLst>
              </a:tr>
            </a:tbl>
          </a:graphicData>
        </a:graphic>
      </p:graphicFrame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AC7112BF-46A6-09AF-5FD3-98F208A51EB2}"/>
              </a:ext>
            </a:extLst>
          </p:cNvPr>
          <p:cNvCxnSpPr>
            <a:cxnSpLocks/>
          </p:cNvCxnSpPr>
          <p:nvPr/>
        </p:nvCxnSpPr>
        <p:spPr>
          <a:xfrm>
            <a:off x="6015624" y="4216111"/>
            <a:ext cx="13121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EE82B31A-8F06-F3A1-1D4E-1B81BB3C1938}"/>
                  </a:ext>
                </a:extLst>
              </p:cNvPr>
              <p:cNvSpPr txBox="1"/>
              <p:nvPr/>
            </p:nvSpPr>
            <p:spPr>
              <a:xfrm>
                <a:off x="6055812" y="3741185"/>
                <a:ext cx="12317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=0,25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EE82B31A-8F06-F3A1-1D4E-1B81BB3C1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5812" y="3741185"/>
                <a:ext cx="123172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 6" descr="No Connection.&#10;&#10;Le contenu généré par l’IA peut être incorrect.">
            <a:extLst>
              <a:ext uri="{FF2B5EF4-FFF2-40B4-BE49-F238E27FC236}">
                <a16:creationId xmlns:a16="http://schemas.microsoft.com/office/drawing/2014/main" id="{B354E51B-345D-DF5E-9D89-89000A652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938" y="2462124"/>
            <a:ext cx="4590599" cy="3588871"/>
          </a:xfrm>
          <a:prstGeom prst="rect">
            <a:avLst/>
          </a:prstGeom>
        </p:spPr>
      </p:pic>
      <p:pic>
        <p:nvPicPr>
          <p:cNvPr id="10" name="Image 9" descr="The diagram illustrates a comparison between predicted probabilities of connection and actual connection statuses, with thresholds set at T=0.25 and T=0.75, across ten pairs of neurons.&#10;&#10;Le contenu généré par l’IA peut être incorrect.">
            <a:extLst>
              <a:ext uri="{FF2B5EF4-FFF2-40B4-BE49-F238E27FC236}">
                <a16:creationId xmlns:a16="http://schemas.microsoft.com/office/drawing/2014/main" id="{DD23786A-2C49-8E05-3C13-7D8B71078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450" y="2702177"/>
            <a:ext cx="5595774" cy="310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643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79108C9E-7773-F283-A756-3F94BCC955A6}"/>
                  </a:ext>
                </a:extLst>
              </p:cNvPr>
              <p:cNvSpPr txBox="1"/>
              <p:nvPr/>
            </p:nvSpPr>
            <p:spPr>
              <a:xfrm>
                <a:off x="443495" y="1953660"/>
                <a:ext cx="3727944" cy="800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i="1" smtClean="0">
                          <a:latin typeface="Cambria Math" panose="02040503050406030204" pitchFamily="18" charset="0"/>
                        </a:rPr>
                        <m:t>𝑇𝑃𝑅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True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Positive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Rate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79108C9E-7773-F283-A756-3F94BCC95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95" y="1953660"/>
                <a:ext cx="3727944" cy="8001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ZoneTexte 4">
            <a:extLst>
              <a:ext uri="{FF2B5EF4-FFF2-40B4-BE49-F238E27FC236}">
                <a16:creationId xmlns:a16="http://schemas.microsoft.com/office/drawing/2014/main" id="{7205CBEE-D3E1-C27A-4DAA-B2056EB7E49C}"/>
              </a:ext>
            </a:extLst>
          </p:cNvPr>
          <p:cNvSpPr txBox="1"/>
          <p:nvPr/>
        </p:nvSpPr>
        <p:spPr>
          <a:xfrm>
            <a:off x="5413483" y="1897293"/>
            <a:ext cx="609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Among all true connections in the connectome, what fraction is successfully detected by the model?</a:t>
            </a:r>
            <a:endParaRPr lang="fr-FR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84A89CDD-AE44-5BFC-DB6B-32A3EC30D440}"/>
                  </a:ext>
                </a:extLst>
              </p:cNvPr>
              <p:cNvSpPr txBox="1"/>
              <p:nvPr/>
            </p:nvSpPr>
            <p:spPr>
              <a:xfrm>
                <a:off x="443495" y="2364045"/>
                <a:ext cx="3715120" cy="10771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:br>
                  <a:rPr lang="fr-FR" i="1" dirty="0"/>
                </a:b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fr-FR" i="1" smtClean="0">
                          <a:latin typeface="Cambria Math" panose="02040503050406030204" pitchFamily="18" charset="0"/>
                        </a:rPr>
                        <m:t>𝑃𝑅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False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Positive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Rate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FP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FP</m:t>
                          </m:r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TN</m:t>
                          </m:r>
                        </m:den>
                      </m:f>
                    </m:oMath>
                  </m:oMathPara>
                </a14:m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84A89CDD-AE44-5BFC-DB6B-32A3EC30D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95" y="2364045"/>
                <a:ext cx="3715120" cy="10771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ZoneTexte 6">
            <a:extLst>
              <a:ext uri="{FF2B5EF4-FFF2-40B4-BE49-F238E27FC236}">
                <a16:creationId xmlns:a16="http://schemas.microsoft.com/office/drawing/2014/main" id="{C472B15D-FE15-E5D4-1A28-5340E2A649BD}"/>
              </a:ext>
            </a:extLst>
          </p:cNvPr>
          <p:cNvSpPr txBox="1"/>
          <p:nvPr/>
        </p:nvSpPr>
        <p:spPr>
          <a:xfrm>
            <a:off x="5413483" y="2579456"/>
            <a:ext cx="609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Among all neuron pairs that are not connected, what fraction is incorrectly predicted as connected by the model?</a:t>
            </a:r>
            <a:endParaRPr lang="fr-FR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33C7907D-210E-75F3-520B-1166960D3645}"/>
              </a:ext>
            </a:extLst>
          </p:cNvPr>
          <p:cNvCxnSpPr/>
          <p:nvPr/>
        </p:nvCxnSpPr>
        <p:spPr>
          <a:xfrm>
            <a:off x="4509010" y="2149932"/>
            <a:ext cx="751562" cy="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2CFAAB37-2E28-5654-ED15-401F16DFA244}"/>
              </a:ext>
            </a:extLst>
          </p:cNvPr>
          <p:cNvCxnSpPr/>
          <p:nvPr/>
        </p:nvCxnSpPr>
        <p:spPr>
          <a:xfrm>
            <a:off x="4595065" y="2902622"/>
            <a:ext cx="75156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51A6B83A-1489-DB05-0CDD-F4E3BA25E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349329"/>
              </p:ext>
            </p:extLst>
          </p:nvPr>
        </p:nvGraphicFramePr>
        <p:xfrm>
          <a:off x="443495" y="464795"/>
          <a:ext cx="8080467" cy="12005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34677607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56677825"/>
                    </a:ext>
                  </a:extLst>
                </a:gridCol>
                <a:gridCol w="2661801">
                  <a:extLst>
                    <a:ext uri="{9D8B030D-6E8A-4147-A177-3AD203B41FA5}">
                      <a16:colId xmlns:a16="http://schemas.microsoft.com/office/drawing/2014/main" val="3946872202"/>
                    </a:ext>
                  </a:extLst>
                </a:gridCol>
              </a:tblGrid>
              <a:tr h="397515">
                <a:tc>
                  <a:txBody>
                    <a:bodyPr/>
                    <a:lstStyle/>
                    <a:p>
                      <a:endParaRPr lang="fr-FR" sz="14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1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Predicted</a:t>
                      </a:r>
                      <a:r>
                        <a:rPr lang="fr-FR" sz="14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1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Predicted</a:t>
                      </a:r>
                      <a:r>
                        <a:rPr lang="fr-FR" sz="14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fr-FR" sz="1400" b="1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Negative</a:t>
                      </a:r>
                      <a:endParaRPr lang="fr-FR" sz="14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225331"/>
                  </a:ext>
                </a:extLst>
              </a:tr>
              <a:tr h="432148">
                <a:tc>
                  <a:txBody>
                    <a:bodyPr/>
                    <a:lstStyle/>
                    <a:p>
                      <a:r>
                        <a:rPr lang="fr-FR" sz="1400" b="1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Actual</a:t>
                      </a:r>
                      <a:r>
                        <a:rPr lang="fr-FR" sz="14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TP (True Positive)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FN (False </a:t>
                      </a:r>
                      <a:r>
                        <a:rPr lang="fr-FR" sz="140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Negative</a:t>
                      </a:r>
                      <a:r>
                        <a:rPr lang="fr-FR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)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860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b="1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Actual</a:t>
                      </a:r>
                      <a:r>
                        <a:rPr lang="fr-FR" sz="14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fr-FR" sz="1400" b="1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Negative</a:t>
                      </a:r>
                      <a:endParaRPr lang="fr-FR" sz="14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FP (False Positive)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TN (True </a:t>
                      </a:r>
                      <a:r>
                        <a:rPr lang="fr-FR" sz="140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Negative</a:t>
                      </a:r>
                      <a:r>
                        <a:rPr lang="fr-FR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)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697503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17C6E77C-A7EB-6D58-6C8C-EC40ACCE24F6}"/>
              </a:ext>
            </a:extLst>
          </p:cNvPr>
          <p:cNvSpPr txBox="1"/>
          <p:nvPr/>
        </p:nvSpPr>
        <p:spPr>
          <a:xfrm>
            <a:off x="443495" y="95463"/>
            <a:ext cx="4412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Confusion Matrix </a:t>
            </a:r>
          </a:p>
        </p:txBody>
      </p:sp>
      <p:pic>
        <p:nvPicPr>
          <p:cNvPr id="20" name="Image 19" descr="The image depicts a confusion matrix with a threshold value of 0.25, where the True Positive Rate (TPR) is 0.600 and the False Positive Rate (FPR) is 1.000.&#10;&#10;Le contenu généré par l’IA peut être incorrect.">
            <a:extLst>
              <a:ext uri="{FF2B5EF4-FFF2-40B4-BE49-F238E27FC236}">
                <a16:creationId xmlns:a16="http://schemas.microsoft.com/office/drawing/2014/main" id="{C32561AC-1492-5629-D36D-21FEF4F2FE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602" y="5902439"/>
            <a:ext cx="4896102" cy="711237"/>
          </a:xfrm>
          <a:prstGeom prst="rect">
            <a:avLst/>
          </a:prstGeom>
        </p:spPr>
      </p:pic>
      <p:pic>
        <p:nvPicPr>
          <p:cNvPr id="22" name="Image 21" descr="The confusion matrix displays a comparison of true and predicted labels for connection types, with a threshold of 0.75.&#10;&#10;Le contenu généré par l’IA peut être incorrect.">
            <a:extLst>
              <a:ext uri="{FF2B5EF4-FFF2-40B4-BE49-F238E27FC236}">
                <a16:creationId xmlns:a16="http://schemas.microsoft.com/office/drawing/2014/main" id="{88764E56-E32C-A997-9122-FDC2652B9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296" y="3225787"/>
            <a:ext cx="3508544" cy="2683003"/>
          </a:xfrm>
          <a:prstGeom prst="rect">
            <a:avLst/>
          </a:prstGeom>
        </p:spPr>
      </p:pic>
      <p:pic>
        <p:nvPicPr>
          <p:cNvPr id="23" name="Image 22" descr="No Connection.&#10;&#10;Le contenu généré par l’IA peut être incorrect.">
            <a:extLst>
              <a:ext uri="{FF2B5EF4-FFF2-40B4-BE49-F238E27FC236}">
                <a16:creationId xmlns:a16="http://schemas.microsoft.com/office/drawing/2014/main" id="{BBCA8E88-7E81-44F2-D7E2-E32538B293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4109" y="3331057"/>
            <a:ext cx="3258018" cy="2547076"/>
          </a:xfrm>
          <a:prstGeom prst="rect">
            <a:avLst/>
          </a:prstGeom>
        </p:spPr>
      </p:pic>
      <p:pic>
        <p:nvPicPr>
          <p:cNvPr id="26" name="Image 25" descr="The image shows a threshold value of 0.75, with a True Positive Rate (TPR) of 0.200 and a False Positive Rate (FPR) of 0.400.&#10;&#10;Le contenu généré par l’IA peut être incorrect.">
            <a:extLst>
              <a:ext uri="{FF2B5EF4-FFF2-40B4-BE49-F238E27FC236}">
                <a16:creationId xmlns:a16="http://schemas.microsoft.com/office/drawing/2014/main" id="{8400C3EF-E69B-F804-E0F0-80F3E992AF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490" y="5927491"/>
            <a:ext cx="4515082" cy="70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503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1EEE0DB-A387-3C94-FF1B-C6E43B1DADF8}"/>
              </a:ext>
            </a:extLst>
          </p:cNvPr>
          <p:cNvSpPr txBox="1"/>
          <p:nvPr/>
        </p:nvSpPr>
        <p:spPr>
          <a:xfrm>
            <a:off x="443495" y="113874"/>
            <a:ext cx="4412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ROC </a:t>
            </a:r>
            <a:r>
              <a:rPr lang="fr-FR" dirty="0"/>
              <a:t>(</a:t>
            </a:r>
            <a:r>
              <a:rPr lang="fr-FR" b="1" dirty="0" err="1"/>
              <a:t>R</a:t>
            </a:r>
            <a:r>
              <a:rPr lang="fr-FR" dirty="0" err="1"/>
              <a:t>eceiver</a:t>
            </a:r>
            <a:r>
              <a:rPr lang="fr-FR" dirty="0"/>
              <a:t> </a:t>
            </a:r>
            <a:r>
              <a:rPr lang="fr-FR" b="1" dirty="0"/>
              <a:t>O</a:t>
            </a:r>
            <a:r>
              <a:rPr lang="fr-FR" dirty="0"/>
              <a:t>perating </a:t>
            </a:r>
            <a:r>
              <a:rPr lang="fr-FR" b="1" dirty="0" err="1"/>
              <a:t>C</a:t>
            </a:r>
            <a:r>
              <a:rPr lang="fr-FR" dirty="0" err="1"/>
              <a:t>haracteristic</a:t>
            </a:r>
            <a:r>
              <a:rPr lang="fr-FR" dirty="0"/>
              <a:t>)</a:t>
            </a:r>
          </a:p>
        </p:txBody>
      </p:sp>
      <p:pic>
        <p:nvPicPr>
          <p:cNvPr id="6" name="Image 5" descr="The diagram shows the ROC curve for different thresholds, illustrating the trade-off between true positive rates (TPR) and false positive rates (FPR) for a classifier.&#10;&#10;Le contenu généré par l’IA peut être incorrect.">
            <a:extLst>
              <a:ext uri="{FF2B5EF4-FFF2-40B4-BE49-F238E27FC236}">
                <a16:creationId xmlns:a16="http://schemas.microsoft.com/office/drawing/2014/main" id="{A15FEB79-355E-60BC-2D32-FCDB5E315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53" y="1012000"/>
            <a:ext cx="5328886" cy="4833998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31E351A7-578D-2336-D047-A742BF461B17}"/>
              </a:ext>
            </a:extLst>
          </p:cNvPr>
          <p:cNvCxnSpPr>
            <a:cxnSpLocks/>
          </p:cNvCxnSpPr>
          <p:nvPr/>
        </p:nvCxnSpPr>
        <p:spPr>
          <a:xfrm>
            <a:off x="5438754" y="3429000"/>
            <a:ext cx="11216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age 8" descr="The diagram is a Receiver Operating Characteristic (ROC) curve, illustrating the relationship between the True Positive Rate (TPR) and the False Positive Rate (FPR) at various threshold levels.&#10;&#10;Le contenu généré par l’IA peut être incorrect.">
            <a:extLst>
              <a:ext uri="{FF2B5EF4-FFF2-40B4-BE49-F238E27FC236}">
                <a16:creationId xmlns:a16="http://schemas.microsoft.com/office/drawing/2014/main" id="{4AA13BAB-3D28-7ADC-0687-178481EFB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699" y="1034066"/>
            <a:ext cx="5202931" cy="47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691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The diagram is a Receiver Operating Characteristic (ROC) curve, illustrating the relationship between the True Positive Rate (TPR) and the False Positive Rate (FPR) at various threshold levels.&#10;&#10;Le contenu généré par l’IA peut être incorrect.">
            <a:extLst>
              <a:ext uri="{FF2B5EF4-FFF2-40B4-BE49-F238E27FC236}">
                <a16:creationId xmlns:a16="http://schemas.microsoft.com/office/drawing/2014/main" id="{7329B6B4-DC92-7BEE-BD16-601A3FC59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65" y="2099283"/>
            <a:ext cx="4832556" cy="438376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63A6F9A1-BF6A-B8D8-C0C0-C391C9151AB7}"/>
              </a:ext>
            </a:extLst>
          </p:cNvPr>
          <p:cNvSpPr txBox="1"/>
          <p:nvPr/>
        </p:nvSpPr>
        <p:spPr>
          <a:xfrm>
            <a:off x="428050" y="266634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ea typeface="Cambria Math" panose="02040503050406030204" pitchFamily="18" charset="0"/>
              </a:rPr>
              <a:t>Intuition : </a:t>
            </a:r>
            <a:r>
              <a:rPr lang="fr-FR" dirty="0" err="1">
                <a:ea typeface="Cambria Math" panose="02040503050406030204" pitchFamily="18" charset="0"/>
              </a:rPr>
              <a:t>Behind</a:t>
            </a:r>
            <a:r>
              <a:rPr lang="fr-FR" dirty="0">
                <a:ea typeface="Cambria Math" panose="02040503050406030204" pitchFamily="18" charset="0"/>
              </a:rPr>
              <a:t> the </a:t>
            </a:r>
            <a:r>
              <a:rPr lang="fr-FR" b="1" dirty="0" err="1">
                <a:ea typeface="Cambria Math" panose="02040503050406030204" pitchFamily="18" charset="0"/>
              </a:rPr>
              <a:t>Staircase</a:t>
            </a:r>
            <a:r>
              <a:rPr lang="fr-FR" dirty="0">
                <a:ea typeface="Cambria Math" panose="02040503050406030204" pitchFamily="18" charset="0"/>
              </a:rPr>
              <a:t> Shape of the ROC </a:t>
            </a:r>
            <a:r>
              <a:rPr lang="fr-FR" dirty="0" err="1">
                <a:ea typeface="Cambria Math" panose="02040503050406030204" pitchFamily="18" charset="0"/>
              </a:rPr>
              <a:t>Curve</a:t>
            </a:r>
            <a:endParaRPr lang="fr-FR" dirty="0">
              <a:ea typeface="Cambria Math" panose="02040503050406030204" pitchFamily="18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9F7B7F7-A43A-9D74-D8A3-BCA705D96F43}"/>
              </a:ext>
            </a:extLst>
          </p:cNvPr>
          <p:cNvSpPr txBox="1"/>
          <p:nvPr/>
        </p:nvSpPr>
        <p:spPr>
          <a:xfrm>
            <a:off x="520104" y="779130"/>
            <a:ext cx="5667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number of distinct points on the ROC curve </a:t>
            </a:r>
            <a:r>
              <a:rPr lang="en-US" b="1" dirty="0"/>
              <a:t>cannot exceed</a:t>
            </a:r>
            <a:r>
              <a:rPr lang="en-US" dirty="0"/>
              <a:t> the number of predicted probabilities.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4DFC1DDF-5778-CBB0-80A4-A4EF1B92A854}"/>
                  </a:ext>
                </a:extLst>
              </p:cNvPr>
              <p:cNvSpPr txBox="1"/>
              <p:nvPr/>
            </p:nvSpPr>
            <p:spPr>
              <a:xfrm>
                <a:off x="-804819" y="1503864"/>
                <a:ext cx="7380931" cy="5954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i="1" smtClean="0">
                          <a:latin typeface="Cambria Math" panose="02040503050406030204" pitchFamily="18" charset="0"/>
                        </a:rPr>
                        <m:t>𝒯</m:t>
                      </m:r>
                      <m:r>
                        <a:rPr lang="fr-FR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∣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∃</m:t>
                          </m:r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fr-FR" i="0">
                              <a:latin typeface="Cambria Math" panose="02040503050406030204" pitchFamily="18" charset="0"/>
                            </a:rPr>
                            <m:t> such that 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̂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4DFC1DDF-5778-CBB0-80A4-A4EF1B92A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04819" y="1503864"/>
                <a:ext cx="7380931" cy="595419"/>
              </a:xfrm>
              <a:prstGeom prst="rect">
                <a:avLst/>
              </a:prstGeom>
              <a:blipFill>
                <a:blip r:embed="rId3"/>
                <a:stretch>
                  <a:fillRect t="-824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e 21">
            <a:extLst>
              <a:ext uri="{FF2B5EF4-FFF2-40B4-BE49-F238E27FC236}">
                <a16:creationId xmlns:a16="http://schemas.microsoft.com/office/drawing/2014/main" id="{55C5D3A6-FB3F-8E8E-625C-3E5A61FCCC93}"/>
              </a:ext>
            </a:extLst>
          </p:cNvPr>
          <p:cNvGrpSpPr/>
          <p:nvPr/>
        </p:nvGrpSpPr>
        <p:grpSpPr>
          <a:xfrm>
            <a:off x="5389350" y="1056796"/>
            <a:ext cx="6282546" cy="3490303"/>
            <a:chOff x="5337798" y="1568625"/>
            <a:chExt cx="6282546" cy="3490303"/>
          </a:xfrm>
        </p:grpSpPr>
        <p:pic>
          <p:nvPicPr>
            <p:cNvPr id="14" name="Image 13" descr="The image displays a bar chart comparing predicted probabilities of connection for ten pairs of neurons against actual observed connection status, indicating a threshold for decision-making.&#10;&#10;Le contenu généré par l’IA peut être incorrect.">
              <a:extLst>
                <a:ext uri="{FF2B5EF4-FFF2-40B4-BE49-F238E27FC236}">
                  <a16:creationId xmlns:a16="http://schemas.microsoft.com/office/drawing/2014/main" id="{97137BF7-F6B5-6CBC-8395-E9AA94319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7798" y="1568625"/>
              <a:ext cx="6282546" cy="3490303"/>
            </a:xfrm>
            <a:prstGeom prst="rect">
              <a:avLst/>
            </a:prstGeom>
          </p:spPr>
        </p:pic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1A992E1F-E66D-8409-F042-43EE9A442BC4}"/>
                </a:ext>
              </a:extLst>
            </p:cNvPr>
            <p:cNvCxnSpPr/>
            <p:nvPr/>
          </p:nvCxnSpPr>
          <p:spPr>
            <a:xfrm>
              <a:off x="5805814" y="4665945"/>
              <a:ext cx="5755709" cy="0"/>
            </a:xfrm>
            <a:prstGeom prst="line">
              <a:avLst/>
            </a:prstGeom>
            <a:ln w="38100">
              <a:solidFill>
                <a:srgbClr val="1FB8C8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85B4476F-3628-74B7-B46B-E44D447396EA}"/>
                </a:ext>
              </a:extLst>
            </p:cNvPr>
            <p:cNvCxnSpPr/>
            <p:nvPr/>
          </p:nvCxnSpPr>
          <p:spPr>
            <a:xfrm>
              <a:off x="5805813" y="4098099"/>
              <a:ext cx="5755709" cy="0"/>
            </a:xfrm>
            <a:prstGeom prst="line">
              <a:avLst/>
            </a:prstGeom>
            <a:ln w="38100">
              <a:solidFill>
                <a:srgbClr val="9C7CB9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Ellipse 22">
            <a:extLst>
              <a:ext uri="{FF2B5EF4-FFF2-40B4-BE49-F238E27FC236}">
                <a16:creationId xmlns:a16="http://schemas.microsoft.com/office/drawing/2014/main" id="{E8FC3836-6C00-CAE7-187D-9BD8DEE08E4E}"/>
              </a:ext>
            </a:extLst>
          </p:cNvPr>
          <p:cNvSpPr/>
          <p:nvPr/>
        </p:nvSpPr>
        <p:spPr>
          <a:xfrm>
            <a:off x="5203421" y="4559474"/>
            <a:ext cx="126404" cy="125260"/>
          </a:xfrm>
          <a:prstGeom prst="ellipse">
            <a:avLst/>
          </a:prstGeom>
          <a:solidFill>
            <a:srgbClr val="1DB9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A3A5450D-7495-FC8A-0689-2CA5DA52207A}"/>
                  </a:ext>
                </a:extLst>
              </p:cNvPr>
              <p:cNvSpPr txBox="1"/>
              <p:nvPr/>
            </p:nvSpPr>
            <p:spPr>
              <a:xfrm>
                <a:off x="5276812" y="4440301"/>
                <a:ext cx="5382834" cy="3386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1600" i="0"/>
                        <m:t>When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=0.0</m:t>
                      </m:r>
                      <m:r>
                        <m:rPr>
                          <m:nor/>
                        </m:rPr>
                        <a:rPr lang="en-US" sz="1600" i="0"/>
                        <m:t>, all neuron pairs are classified as connected</m:t>
                      </m:r>
                    </m:oMath>
                  </m:oMathPara>
                </a14:m>
                <a:br>
                  <a:rPr lang="fr-FR" sz="1600" dirty="0"/>
                </a:br>
                <a:endParaRPr lang="fr-FR" sz="1600" dirty="0"/>
              </a:p>
            </p:txBody>
          </p:sp>
        </mc:Choice>
        <mc:Fallback xmlns="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A3A5450D-7495-FC8A-0689-2CA5DA522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6812" y="4440301"/>
                <a:ext cx="5382834" cy="338619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D0519CDD-5A7C-E3C1-F62F-3A3E93D36BB0}"/>
                  </a:ext>
                </a:extLst>
              </p:cNvPr>
              <p:cNvSpPr txBox="1"/>
              <p:nvPr/>
            </p:nvSpPr>
            <p:spPr>
              <a:xfrm>
                <a:off x="5203421" y="5477734"/>
                <a:ext cx="5382834" cy="4136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fr-FR" sz="1600" i="0"/>
                        <m:t>Then, nothing changes until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fr-FR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</m:rPr>
                            <a:rPr lang="fr-FR" b="0" i="0" smtClean="0"/>
                            <m:t>p</m:t>
                          </m:r>
                          <m:r>
                            <m:rPr>
                              <m:nor/>
                            </m:rPr>
                            <a:rPr lang="fr-FR" i="0"/>
                            <m:t>air 4</m:t>
                          </m:r>
                        </m:sub>
                      </m:sSub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D0519CDD-5A7C-E3C1-F62F-3A3E93D36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421" y="5477734"/>
                <a:ext cx="5382834" cy="413639"/>
              </a:xfrm>
              <a:prstGeom prst="rect">
                <a:avLst/>
              </a:prstGeom>
              <a:blipFill>
                <a:blip r:embed="rId6"/>
                <a:stretch>
                  <a:fillRect t="-10448" b="-1194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Ellipse 27">
            <a:extLst>
              <a:ext uri="{FF2B5EF4-FFF2-40B4-BE49-F238E27FC236}">
                <a16:creationId xmlns:a16="http://schemas.microsoft.com/office/drawing/2014/main" id="{F06C9D27-8D0B-7E3E-6765-20AD204CF1E8}"/>
              </a:ext>
            </a:extLst>
          </p:cNvPr>
          <p:cNvSpPr/>
          <p:nvPr/>
        </p:nvSpPr>
        <p:spPr>
          <a:xfrm>
            <a:off x="5244925" y="5871200"/>
            <a:ext cx="126404" cy="125260"/>
          </a:xfrm>
          <a:prstGeom prst="ellipse">
            <a:avLst/>
          </a:prstGeom>
          <a:solidFill>
            <a:srgbClr val="9C7C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FC134BB1-FCE7-7B8D-6CFC-88DCAF6037EB}"/>
              </a:ext>
            </a:extLst>
          </p:cNvPr>
          <p:cNvSpPr txBox="1"/>
          <p:nvPr/>
        </p:nvSpPr>
        <p:spPr>
          <a:xfrm>
            <a:off x="5203421" y="4758657"/>
            <a:ext cx="65010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Consequently, all actual connections are correctly identified, resulting in a TPR of 1. However, all actual non-connections are also incorrectly classified as connections, leading to a FPR of 1</a:t>
            </a:r>
            <a:endParaRPr lang="fr-FR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2292DDF6-A7BD-BCA5-847F-215F1FE32847}"/>
                  </a:ext>
                </a:extLst>
              </p:cNvPr>
              <p:cNvSpPr txBox="1"/>
              <p:nvPr/>
            </p:nvSpPr>
            <p:spPr>
              <a:xfrm>
                <a:off x="5389350" y="5737097"/>
                <a:ext cx="3809056" cy="4136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i="0" smtClean="0"/>
                      <m:t>When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m:rPr>
                            <m:nor/>
                          </m:rPr>
                          <a:rPr lang="fr-FR" i="0"/>
                          <m:t>pair 4</m:t>
                        </m:r>
                      </m:sub>
                    </m:sSub>
                  </m:oMath>
                </a14:m>
                <a:r>
                  <a:rPr lang="fr-FR" dirty="0"/>
                  <a:t> , 2 cases:</a:t>
                </a:r>
              </a:p>
            </p:txBody>
          </p:sp>
        </mc:Choice>
        <mc:Fallback xmlns="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2292DDF6-A7BD-BCA5-847F-215F1FE32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350" y="5737097"/>
                <a:ext cx="3809056" cy="413639"/>
              </a:xfrm>
              <a:prstGeom prst="rect">
                <a:avLst/>
              </a:prstGeom>
              <a:blipFill>
                <a:blip r:embed="rId7"/>
                <a:stretch>
                  <a:fillRect t="-10294" b="-1617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ZoneTexte 32">
            <a:extLst>
              <a:ext uri="{FF2B5EF4-FFF2-40B4-BE49-F238E27FC236}">
                <a16:creationId xmlns:a16="http://schemas.microsoft.com/office/drawing/2014/main" id="{2932FB5D-DA8F-EF74-7752-91F307F37563}"/>
              </a:ext>
            </a:extLst>
          </p:cNvPr>
          <p:cNvSpPr txBox="1"/>
          <p:nvPr/>
        </p:nvSpPr>
        <p:spPr>
          <a:xfrm>
            <a:off x="4822521" y="6111363"/>
            <a:ext cx="71210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If pair 4 is an actual connection : TPR will decrease from 1/(number of actual connection) </a:t>
            </a:r>
            <a:endParaRPr lang="fr-FR" sz="1400" dirty="0"/>
          </a:p>
        </p:txBody>
      </p: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6FC7CBA6-9AFA-3348-979B-9EB7F2243198}"/>
              </a:ext>
            </a:extLst>
          </p:cNvPr>
          <p:cNvCxnSpPr>
            <a:cxnSpLocks/>
          </p:cNvCxnSpPr>
          <p:nvPr/>
        </p:nvCxnSpPr>
        <p:spPr>
          <a:xfrm>
            <a:off x="11912251" y="6127983"/>
            <a:ext cx="0" cy="2687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264F14B5-D841-891A-48B1-DF94A605B885}"/>
              </a:ext>
            </a:extLst>
          </p:cNvPr>
          <p:cNvSpPr txBox="1"/>
          <p:nvPr/>
        </p:nvSpPr>
        <p:spPr>
          <a:xfrm>
            <a:off x="4851014" y="6331430"/>
            <a:ext cx="69707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If pair 4 is an actual non-connection : </a:t>
            </a:r>
          </a:p>
          <a:p>
            <a:r>
              <a:rPr lang="en-US" sz="1400" dirty="0"/>
              <a:t>FPR will decrease from 1/(number of actual non-connection) </a:t>
            </a:r>
            <a:endParaRPr lang="fr-FR" sz="1400" dirty="0"/>
          </a:p>
        </p:txBody>
      </p: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B226ABC3-3B1E-AFAF-77A4-0B6BB3A6AC23}"/>
              </a:ext>
            </a:extLst>
          </p:cNvPr>
          <p:cNvCxnSpPr>
            <a:cxnSpLocks/>
          </p:cNvCxnSpPr>
          <p:nvPr/>
        </p:nvCxnSpPr>
        <p:spPr>
          <a:xfrm flipH="1">
            <a:off x="9887211" y="6662427"/>
            <a:ext cx="2776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695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03249-C33C-872C-96FD-310BCB606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The diagram is a Receiver Operating Characteristic (ROC) curve, illustrating the relationship between the True Positive Rate (TPR) and the False Positive Rate (FPR) at various threshold levels.&#10;&#10;Le contenu généré par l’IA peut être incorrect.">
            <a:extLst>
              <a:ext uri="{FF2B5EF4-FFF2-40B4-BE49-F238E27FC236}">
                <a16:creationId xmlns:a16="http://schemas.microsoft.com/office/drawing/2014/main" id="{5F5A2911-B76E-FA35-6E11-C2F755471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101" y="2867236"/>
            <a:ext cx="4166281" cy="3779363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A3994810-E455-D6AE-F098-1065DB98DBAA}"/>
              </a:ext>
            </a:extLst>
          </p:cNvPr>
          <p:cNvSpPr txBox="1"/>
          <p:nvPr/>
        </p:nvSpPr>
        <p:spPr>
          <a:xfrm>
            <a:off x="428050" y="266634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ea typeface="Cambria Math" panose="02040503050406030204" pitchFamily="18" charset="0"/>
              </a:rPr>
              <a:t>Intuition : </a:t>
            </a:r>
            <a:r>
              <a:rPr lang="fr-FR" dirty="0" err="1">
                <a:ea typeface="Cambria Math" panose="02040503050406030204" pitchFamily="18" charset="0"/>
              </a:rPr>
              <a:t>Behind</a:t>
            </a:r>
            <a:r>
              <a:rPr lang="fr-FR" dirty="0">
                <a:ea typeface="Cambria Math" panose="02040503050406030204" pitchFamily="18" charset="0"/>
              </a:rPr>
              <a:t> the </a:t>
            </a:r>
            <a:r>
              <a:rPr lang="fr-FR" b="1" dirty="0" err="1">
                <a:ea typeface="Cambria Math" panose="02040503050406030204" pitchFamily="18" charset="0"/>
              </a:rPr>
              <a:t>Staircase</a:t>
            </a:r>
            <a:r>
              <a:rPr lang="fr-FR" dirty="0">
                <a:ea typeface="Cambria Math" panose="02040503050406030204" pitchFamily="18" charset="0"/>
              </a:rPr>
              <a:t> Shape of the ROC </a:t>
            </a:r>
            <a:r>
              <a:rPr lang="fr-FR" dirty="0" err="1">
                <a:ea typeface="Cambria Math" panose="02040503050406030204" pitchFamily="18" charset="0"/>
              </a:rPr>
              <a:t>Curve</a:t>
            </a:r>
            <a:endParaRPr lang="fr-FR" dirty="0"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C3F798EA-FA35-70F5-F4B3-63D79D2597E6}"/>
                  </a:ext>
                </a:extLst>
              </p:cNvPr>
              <p:cNvSpPr txBox="1"/>
              <p:nvPr/>
            </p:nvSpPr>
            <p:spPr>
              <a:xfrm>
                <a:off x="428050" y="564640"/>
                <a:ext cx="10121303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To summarize:</a:t>
                </a:r>
              </a:p>
              <a:p>
                <a:r>
                  <a:rPr lang="en-US" dirty="0"/>
                  <a:t>Starting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we progressively increase the threshold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At each step:</a:t>
                </a:r>
              </a:p>
              <a:p>
                <a:r>
                  <a:rPr lang="fr-FR" dirty="0"/>
                  <a:t>• </a:t>
                </a:r>
                <a:r>
                  <a:rPr lang="en-US" dirty="0"/>
                  <a:t>If the current threshold crosses a pair of neurons that is truly connected, we move one step to the left (correct prediction)</a:t>
                </a:r>
              </a:p>
              <a:p>
                <a:endParaRPr lang="fr-FR" dirty="0"/>
              </a:p>
              <a:p>
                <a:r>
                  <a:rPr lang="fr-FR" dirty="0"/>
                  <a:t>• </a:t>
                </a:r>
                <a:r>
                  <a:rPr lang="en-US" dirty="0"/>
                  <a:t>If it crosses a pair that is not connected, we move one step downward. </a:t>
                </a:r>
              </a:p>
              <a:p>
                <a:r>
                  <a:rPr lang="en-US" dirty="0"/>
                  <a:t>By repeating this process for all pairs sorted by their predicted scores, we trace out the ROC curve.</a:t>
                </a:r>
              </a:p>
              <a:p>
                <a:r>
                  <a:rPr lang="en-US" dirty="0"/>
                  <a:t>(wrong prediction)</a:t>
                </a:r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C3F798EA-FA35-70F5-F4B3-63D79D259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50" y="564640"/>
                <a:ext cx="10121303" cy="2585323"/>
              </a:xfrm>
              <a:prstGeom prst="rect">
                <a:avLst/>
              </a:prstGeom>
              <a:blipFill>
                <a:blip r:embed="rId3"/>
                <a:stretch>
                  <a:fillRect l="-482" t="-1179" b="-306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BC6343A-5B0F-9028-989F-AF09453AB576}"/>
              </a:ext>
            </a:extLst>
          </p:cNvPr>
          <p:cNvCxnSpPr/>
          <p:nvPr/>
        </p:nvCxnSpPr>
        <p:spPr>
          <a:xfrm flipH="1">
            <a:off x="10242508" y="1601735"/>
            <a:ext cx="52163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47795356-E79B-7624-3169-049824E33353}"/>
              </a:ext>
            </a:extLst>
          </p:cNvPr>
          <p:cNvCxnSpPr>
            <a:cxnSpLocks/>
          </p:cNvCxnSpPr>
          <p:nvPr/>
        </p:nvCxnSpPr>
        <p:spPr>
          <a:xfrm>
            <a:off x="10334560" y="2251224"/>
            <a:ext cx="1" cy="48583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D16E5F72-C7B6-6055-7EF3-219C94F306CE}"/>
              </a:ext>
            </a:extLst>
          </p:cNvPr>
          <p:cNvCxnSpPr>
            <a:cxnSpLocks/>
          </p:cNvCxnSpPr>
          <p:nvPr/>
        </p:nvCxnSpPr>
        <p:spPr>
          <a:xfrm>
            <a:off x="6375230" y="3220600"/>
            <a:ext cx="0" cy="41679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4062780A-69B6-E452-044E-7331E09CF35A}"/>
              </a:ext>
            </a:extLst>
          </p:cNvPr>
          <p:cNvCxnSpPr>
            <a:cxnSpLocks/>
          </p:cNvCxnSpPr>
          <p:nvPr/>
        </p:nvCxnSpPr>
        <p:spPr>
          <a:xfrm>
            <a:off x="6384435" y="3833779"/>
            <a:ext cx="1" cy="48583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A10936DB-1CF5-1A29-4986-D41E42AA999C}"/>
              </a:ext>
            </a:extLst>
          </p:cNvPr>
          <p:cNvCxnSpPr>
            <a:cxnSpLocks/>
          </p:cNvCxnSpPr>
          <p:nvPr/>
        </p:nvCxnSpPr>
        <p:spPr>
          <a:xfrm flipH="1">
            <a:off x="5873026" y="4355417"/>
            <a:ext cx="42856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7712F55E-DEFC-39F7-E544-2B8D8515AD04}"/>
              </a:ext>
            </a:extLst>
          </p:cNvPr>
          <p:cNvCxnSpPr>
            <a:cxnSpLocks/>
          </p:cNvCxnSpPr>
          <p:nvPr/>
        </p:nvCxnSpPr>
        <p:spPr>
          <a:xfrm flipH="1">
            <a:off x="5215354" y="4355417"/>
            <a:ext cx="42856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13543AD2-FD3E-CEB6-D7E8-F6FC7AA862FF}"/>
              </a:ext>
            </a:extLst>
          </p:cNvPr>
          <p:cNvCxnSpPr>
            <a:cxnSpLocks/>
          </p:cNvCxnSpPr>
          <p:nvPr/>
        </p:nvCxnSpPr>
        <p:spPr>
          <a:xfrm>
            <a:off x="5125345" y="4452627"/>
            <a:ext cx="1" cy="48583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C0ADA6B4-2621-974B-59C0-0A4CA8A6766F}"/>
              </a:ext>
            </a:extLst>
          </p:cNvPr>
          <p:cNvCxnSpPr>
            <a:cxnSpLocks/>
          </p:cNvCxnSpPr>
          <p:nvPr/>
        </p:nvCxnSpPr>
        <p:spPr>
          <a:xfrm flipH="1">
            <a:off x="4563818" y="5004906"/>
            <a:ext cx="42856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E86D815B-D4AC-4F05-7476-EDF31F62BCEF}"/>
              </a:ext>
            </a:extLst>
          </p:cNvPr>
          <p:cNvCxnSpPr>
            <a:cxnSpLocks/>
          </p:cNvCxnSpPr>
          <p:nvPr/>
        </p:nvCxnSpPr>
        <p:spPr>
          <a:xfrm>
            <a:off x="4479947" y="5105911"/>
            <a:ext cx="0" cy="45136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41BAE3A8-9304-99DD-508B-2D51F3A1269E}"/>
              </a:ext>
            </a:extLst>
          </p:cNvPr>
          <p:cNvCxnSpPr>
            <a:cxnSpLocks/>
          </p:cNvCxnSpPr>
          <p:nvPr/>
        </p:nvCxnSpPr>
        <p:spPr>
          <a:xfrm>
            <a:off x="3835570" y="5728082"/>
            <a:ext cx="1" cy="48583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9FBB9087-5D88-8B55-2899-27127F76C3B8}"/>
              </a:ext>
            </a:extLst>
          </p:cNvPr>
          <p:cNvCxnSpPr>
            <a:cxnSpLocks/>
          </p:cNvCxnSpPr>
          <p:nvPr/>
        </p:nvCxnSpPr>
        <p:spPr>
          <a:xfrm flipH="1">
            <a:off x="3946034" y="5632663"/>
            <a:ext cx="43469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F310773F-CFD1-0810-FBD7-AD65BCD2502F}"/>
              </a:ext>
            </a:extLst>
          </p:cNvPr>
          <p:cNvCxnSpPr>
            <a:cxnSpLocks/>
          </p:cNvCxnSpPr>
          <p:nvPr/>
        </p:nvCxnSpPr>
        <p:spPr>
          <a:xfrm flipH="1">
            <a:off x="3256143" y="6283176"/>
            <a:ext cx="44083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864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FF036-1661-568B-D02F-363D55929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D3B44588-6761-F063-A823-7DB2F4609D0F}"/>
              </a:ext>
            </a:extLst>
          </p:cNvPr>
          <p:cNvSpPr txBox="1"/>
          <p:nvPr/>
        </p:nvSpPr>
        <p:spPr>
          <a:xfrm>
            <a:off x="428050" y="266634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ea typeface="Cambria Math" panose="02040503050406030204" pitchFamily="18" charset="0"/>
              </a:rPr>
              <a:t>AUC : </a:t>
            </a:r>
            <a:r>
              <a:rPr lang="fr-FR" b="1" dirty="0">
                <a:ea typeface="Cambria Math" panose="02040503050406030204" pitchFamily="18" charset="0"/>
              </a:rPr>
              <a:t>A</a:t>
            </a:r>
            <a:r>
              <a:rPr lang="fr-FR" dirty="0">
                <a:ea typeface="Cambria Math" panose="02040503050406030204" pitchFamily="18" charset="0"/>
              </a:rPr>
              <a:t>rea </a:t>
            </a:r>
            <a:r>
              <a:rPr lang="fr-FR" b="1" dirty="0">
                <a:ea typeface="Cambria Math" panose="02040503050406030204" pitchFamily="18" charset="0"/>
              </a:rPr>
              <a:t>U</a:t>
            </a:r>
            <a:r>
              <a:rPr lang="fr-FR" dirty="0">
                <a:ea typeface="Cambria Math" panose="02040503050406030204" pitchFamily="18" charset="0"/>
              </a:rPr>
              <a:t>nder </a:t>
            </a:r>
            <a:r>
              <a:rPr lang="fr-FR" b="1" dirty="0">
                <a:ea typeface="Cambria Math" panose="02040503050406030204" pitchFamily="18" charset="0"/>
              </a:rPr>
              <a:t>T</a:t>
            </a:r>
            <a:r>
              <a:rPr lang="fr-FR" dirty="0">
                <a:ea typeface="Cambria Math" panose="02040503050406030204" pitchFamily="18" charset="0"/>
              </a:rPr>
              <a:t>he </a:t>
            </a:r>
            <a:r>
              <a:rPr lang="fr-FR" b="1" dirty="0" err="1">
                <a:ea typeface="Cambria Math" panose="02040503050406030204" pitchFamily="18" charset="0"/>
              </a:rPr>
              <a:t>C</a:t>
            </a:r>
            <a:r>
              <a:rPr lang="fr-FR" dirty="0" err="1">
                <a:ea typeface="Cambria Math" panose="02040503050406030204" pitchFamily="18" charset="0"/>
              </a:rPr>
              <a:t>urve</a:t>
            </a:r>
            <a:endParaRPr lang="fr-FR" dirty="0">
              <a:ea typeface="Cambria Math" panose="02040503050406030204" pitchFamily="18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D13BE00-5D51-BAE4-3200-64E988E095E3}"/>
              </a:ext>
            </a:extLst>
          </p:cNvPr>
          <p:cNvSpPr txBox="1"/>
          <p:nvPr/>
        </p:nvSpPr>
        <p:spPr>
          <a:xfrm>
            <a:off x="368982" y="762555"/>
            <a:ext cx="10121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How can we determine whether our model predicts connections accurately?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1293C0EC-78CE-CA3F-67ED-EFB13B2206BA}"/>
                  </a:ext>
                </a:extLst>
              </p:cNvPr>
              <p:cNvSpPr txBox="1"/>
              <p:nvPr/>
            </p:nvSpPr>
            <p:spPr>
              <a:xfrm>
                <a:off x="368980" y="2760083"/>
                <a:ext cx="1012130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A random classifier is equally likely to correctly or incorrectly classify a pair, making downward and leftward steps equally probable. As a result, its ROC curve follows the diagonal line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1293C0EC-78CE-CA3F-67ED-EFB13B220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80" y="2760083"/>
                <a:ext cx="10121303" cy="646331"/>
              </a:xfrm>
              <a:prstGeom prst="rect">
                <a:avLst/>
              </a:prstGeom>
              <a:blipFill>
                <a:blip r:embed="rId2"/>
                <a:stretch>
                  <a:fillRect l="-542" t="-4717" b="-1509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ZoneTexte 12">
            <a:extLst>
              <a:ext uri="{FF2B5EF4-FFF2-40B4-BE49-F238E27FC236}">
                <a16:creationId xmlns:a16="http://schemas.microsoft.com/office/drawing/2014/main" id="{F1DAF43F-24B6-2053-FEB9-80F1897445B4}"/>
              </a:ext>
            </a:extLst>
          </p:cNvPr>
          <p:cNvSpPr txBox="1"/>
          <p:nvPr/>
        </p:nvSpPr>
        <p:spPr>
          <a:xfrm>
            <a:off x="368981" y="1192178"/>
            <a:ext cx="10121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Based on the previous discussion, the better a model is, the closer its ROC curve lies to the upper-left corner of the plot.</a:t>
            </a:r>
            <a:endParaRPr lang="en-US" b="1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FEC5FF8-D1BC-B523-17DA-4A92B53579FE}"/>
              </a:ext>
            </a:extLst>
          </p:cNvPr>
          <p:cNvSpPr txBox="1"/>
          <p:nvPr/>
        </p:nvSpPr>
        <p:spPr>
          <a:xfrm>
            <a:off x="368981" y="1838591"/>
            <a:ext cx="60970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Therefore, the area under the ROC curve (AUC-ROC) is used as a performance metric: the larger the area, the better the model.</a:t>
            </a:r>
            <a:endParaRPr lang="fr-FR" dirty="0"/>
          </a:p>
        </p:txBody>
      </p: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2B0F7D90-9E5B-7B0C-0581-E2876639E99D}"/>
              </a:ext>
            </a:extLst>
          </p:cNvPr>
          <p:cNvGrpSpPr/>
          <p:nvPr/>
        </p:nvGrpSpPr>
        <p:grpSpPr>
          <a:xfrm>
            <a:off x="773250" y="3406414"/>
            <a:ext cx="3456616" cy="3135604"/>
            <a:chOff x="2776101" y="2867236"/>
            <a:chExt cx="4166281" cy="3779363"/>
          </a:xfrm>
        </p:grpSpPr>
        <p:pic>
          <p:nvPicPr>
            <p:cNvPr id="34" name="Image 33" descr="The diagram is a Receiver Operating Characteristic (ROC) curve, illustrating the relationship between the True Positive Rate (TPR) and the False Positive Rate (FPR) at various threshold levels.&#10;&#10;Le contenu généré par l’IA peut être incorrect.">
              <a:extLst>
                <a:ext uri="{FF2B5EF4-FFF2-40B4-BE49-F238E27FC236}">
                  <a16:creationId xmlns:a16="http://schemas.microsoft.com/office/drawing/2014/main" id="{486B7217-E7AC-A157-B908-431C316B2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76101" y="2867236"/>
              <a:ext cx="4166281" cy="3779363"/>
            </a:xfrm>
            <a:prstGeom prst="rect">
              <a:avLst/>
            </a:prstGeom>
          </p:spPr>
        </p:pic>
        <p:cxnSp>
          <p:nvCxnSpPr>
            <p:cNvPr id="36" name="Connecteur droit avec flèche 35">
              <a:extLst>
                <a:ext uri="{FF2B5EF4-FFF2-40B4-BE49-F238E27FC236}">
                  <a16:creationId xmlns:a16="http://schemas.microsoft.com/office/drawing/2014/main" id="{F286F51D-204C-A59A-0A9F-B9F5CA42515E}"/>
                </a:ext>
              </a:extLst>
            </p:cNvPr>
            <p:cNvCxnSpPr>
              <a:cxnSpLocks/>
            </p:cNvCxnSpPr>
            <p:nvPr/>
          </p:nvCxnSpPr>
          <p:spPr>
            <a:xfrm>
              <a:off x="6375230" y="3220600"/>
              <a:ext cx="0" cy="416799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7" name="Connecteur droit avec flèche 36">
              <a:extLst>
                <a:ext uri="{FF2B5EF4-FFF2-40B4-BE49-F238E27FC236}">
                  <a16:creationId xmlns:a16="http://schemas.microsoft.com/office/drawing/2014/main" id="{FEF6B7EC-849F-470A-22A8-BEFA6E0527E8}"/>
                </a:ext>
              </a:extLst>
            </p:cNvPr>
            <p:cNvCxnSpPr>
              <a:cxnSpLocks/>
            </p:cNvCxnSpPr>
            <p:nvPr/>
          </p:nvCxnSpPr>
          <p:spPr>
            <a:xfrm>
              <a:off x="6384435" y="3833779"/>
              <a:ext cx="1" cy="485839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8" name="Connecteur droit avec flèche 37">
              <a:extLst>
                <a:ext uri="{FF2B5EF4-FFF2-40B4-BE49-F238E27FC236}">
                  <a16:creationId xmlns:a16="http://schemas.microsoft.com/office/drawing/2014/main" id="{298942E4-E726-0EC5-F2C8-75E4EAB007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73026" y="4355417"/>
              <a:ext cx="428561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9" name="Connecteur droit avec flèche 38">
              <a:extLst>
                <a:ext uri="{FF2B5EF4-FFF2-40B4-BE49-F238E27FC236}">
                  <a16:creationId xmlns:a16="http://schemas.microsoft.com/office/drawing/2014/main" id="{83B7B2A5-C5CB-F639-D167-160C6D3E7D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5354" y="4355417"/>
              <a:ext cx="428561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Connecteur droit avec flèche 39">
              <a:extLst>
                <a:ext uri="{FF2B5EF4-FFF2-40B4-BE49-F238E27FC236}">
                  <a16:creationId xmlns:a16="http://schemas.microsoft.com/office/drawing/2014/main" id="{A4C3208C-4785-3DD8-06CC-5BD98AA0EEC4}"/>
                </a:ext>
              </a:extLst>
            </p:cNvPr>
            <p:cNvCxnSpPr>
              <a:cxnSpLocks/>
            </p:cNvCxnSpPr>
            <p:nvPr/>
          </p:nvCxnSpPr>
          <p:spPr>
            <a:xfrm>
              <a:off x="5125345" y="4452627"/>
              <a:ext cx="1" cy="485839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1" name="Connecteur droit avec flèche 40">
              <a:extLst>
                <a:ext uri="{FF2B5EF4-FFF2-40B4-BE49-F238E27FC236}">
                  <a16:creationId xmlns:a16="http://schemas.microsoft.com/office/drawing/2014/main" id="{ABAD7286-C7FA-87D9-4295-096D34C18C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3818" y="5004906"/>
              <a:ext cx="428561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2" name="Connecteur droit avec flèche 41">
              <a:extLst>
                <a:ext uri="{FF2B5EF4-FFF2-40B4-BE49-F238E27FC236}">
                  <a16:creationId xmlns:a16="http://schemas.microsoft.com/office/drawing/2014/main" id="{1A92C2AE-C279-E826-242D-5449AF7203B6}"/>
                </a:ext>
              </a:extLst>
            </p:cNvPr>
            <p:cNvCxnSpPr>
              <a:cxnSpLocks/>
            </p:cNvCxnSpPr>
            <p:nvPr/>
          </p:nvCxnSpPr>
          <p:spPr>
            <a:xfrm>
              <a:off x="4479947" y="5105911"/>
              <a:ext cx="0" cy="45136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3" name="Connecteur droit avec flèche 42">
              <a:extLst>
                <a:ext uri="{FF2B5EF4-FFF2-40B4-BE49-F238E27FC236}">
                  <a16:creationId xmlns:a16="http://schemas.microsoft.com/office/drawing/2014/main" id="{23520F5D-A470-58DB-076A-E53BA1109782}"/>
                </a:ext>
              </a:extLst>
            </p:cNvPr>
            <p:cNvCxnSpPr>
              <a:cxnSpLocks/>
            </p:cNvCxnSpPr>
            <p:nvPr/>
          </p:nvCxnSpPr>
          <p:spPr>
            <a:xfrm>
              <a:off x="3835570" y="5728082"/>
              <a:ext cx="1" cy="485839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4" name="Connecteur droit avec flèche 43">
              <a:extLst>
                <a:ext uri="{FF2B5EF4-FFF2-40B4-BE49-F238E27FC236}">
                  <a16:creationId xmlns:a16="http://schemas.microsoft.com/office/drawing/2014/main" id="{FC418474-6B6E-6897-6974-CB1E2222A6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6034" y="5632663"/>
              <a:ext cx="434698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5" name="Connecteur droit avec flèche 44">
              <a:extLst>
                <a:ext uri="{FF2B5EF4-FFF2-40B4-BE49-F238E27FC236}">
                  <a16:creationId xmlns:a16="http://schemas.microsoft.com/office/drawing/2014/main" id="{ECCDE71D-8876-E1F1-555C-0EE7ABB11C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56143" y="6283176"/>
              <a:ext cx="440836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91A1B99A-C201-CB8A-A251-1FC55732CDEF}"/>
              </a:ext>
            </a:extLst>
          </p:cNvPr>
          <p:cNvCxnSpPr/>
          <p:nvPr/>
        </p:nvCxnSpPr>
        <p:spPr>
          <a:xfrm flipH="1">
            <a:off x="1743902" y="5830067"/>
            <a:ext cx="180327" cy="270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0921D16F-83B1-0C92-0844-A50580FDE910}"/>
              </a:ext>
            </a:extLst>
          </p:cNvPr>
          <p:cNvCxnSpPr>
            <a:cxnSpLocks/>
          </p:cNvCxnSpPr>
          <p:nvPr/>
        </p:nvCxnSpPr>
        <p:spPr>
          <a:xfrm flipH="1">
            <a:off x="1985157" y="5786743"/>
            <a:ext cx="201714" cy="3429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804C7DCF-4B69-7754-9137-D92714AEF6F3}"/>
              </a:ext>
            </a:extLst>
          </p:cNvPr>
          <p:cNvCxnSpPr>
            <a:cxnSpLocks/>
          </p:cNvCxnSpPr>
          <p:nvPr/>
        </p:nvCxnSpPr>
        <p:spPr>
          <a:xfrm flipH="1">
            <a:off x="2166292" y="4789608"/>
            <a:ext cx="908916" cy="13934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BB43D15A-D15A-BE09-ECDF-19980017C823}"/>
              </a:ext>
            </a:extLst>
          </p:cNvPr>
          <p:cNvCxnSpPr>
            <a:cxnSpLocks/>
          </p:cNvCxnSpPr>
          <p:nvPr/>
        </p:nvCxnSpPr>
        <p:spPr>
          <a:xfrm flipH="1">
            <a:off x="2472643" y="4806506"/>
            <a:ext cx="837280" cy="13765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16C8E514-9368-6D37-08A4-328C350F25FF}"/>
              </a:ext>
            </a:extLst>
          </p:cNvPr>
          <p:cNvCxnSpPr>
            <a:cxnSpLocks/>
          </p:cNvCxnSpPr>
          <p:nvPr/>
        </p:nvCxnSpPr>
        <p:spPr>
          <a:xfrm flipH="1">
            <a:off x="2783264" y="4806506"/>
            <a:ext cx="837280" cy="13765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9C37A903-6206-0CFC-E390-77DCC14EE385}"/>
              </a:ext>
            </a:extLst>
          </p:cNvPr>
          <p:cNvCxnSpPr>
            <a:cxnSpLocks/>
          </p:cNvCxnSpPr>
          <p:nvPr/>
        </p:nvCxnSpPr>
        <p:spPr>
          <a:xfrm flipH="1">
            <a:off x="3152574" y="5124840"/>
            <a:ext cx="545647" cy="10048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16A49294-DCB9-87ED-2B14-D8F2A2D40777}"/>
              </a:ext>
            </a:extLst>
          </p:cNvPr>
          <p:cNvCxnSpPr>
            <a:cxnSpLocks/>
          </p:cNvCxnSpPr>
          <p:nvPr/>
        </p:nvCxnSpPr>
        <p:spPr>
          <a:xfrm flipH="1">
            <a:off x="3417492" y="5572317"/>
            <a:ext cx="296701" cy="5573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ZoneTexte 64">
            <a:extLst>
              <a:ext uri="{FF2B5EF4-FFF2-40B4-BE49-F238E27FC236}">
                <a16:creationId xmlns:a16="http://schemas.microsoft.com/office/drawing/2014/main" id="{5F47A93D-EB42-A58A-BB35-C8DDD3649EB9}"/>
              </a:ext>
            </a:extLst>
          </p:cNvPr>
          <p:cNvSpPr txBox="1"/>
          <p:nvPr/>
        </p:nvSpPr>
        <p:spPr>
          <a:xfrm>
            <a:off x="4530977" y="3466705"/>
            <a:ext cx="533490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*Typical interpretations are as follows: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AUC = 0.5</a:t>
            </a:r>
            <a:r>
              <a:rPr lang="en-US" dirty="0"/>
              <a:t>: performance equivalent to random guessing.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0.5 &lt; AUC &lt; 0.7</a:t>
            </a:r>
            <a:r>
              <a:rPr lang="en-US" dirty="0"/>
              <a:t>: poor discrimination.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0.7 &lt;  AUC &lt; 0.8</a:t>
            </a:r>
            <a:r>
              <a:rPr lang="en-US" dirty="0"/>
              <a:t>: acceptable discrimination.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0.8 &lt; </a:t>
            </a:r>
            <a:r>
              <a:rPr lang="en-US" b="1" dirty="0" err="1"/>
              <a:t>leq</a:t>
            </a:r>
            <a:r>
              <a:rPr lang="en-US" b="1" dirty="0"/>
              <a:t> AUC &lt; 0.9</a:t>
            </a:r>
            <a:r>
              <a:rPr lang="en-US" dirty="0"/>
              <a:t>: good discrimination.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0.9 &lt;  </a:t>
            </a:r>
            <a:r>
              <a:rPr lang="en-US" b="1" dirty="0" err="1"/>
              <a:t>leq</a:t>
            </a:r>
            <a:r>
              <a:rPr lang="en-US" b="1" dirty="0"/>
              <a:t> AUC &lt; 1.0</a:t>
            </a:r>
            <a:r>
              <a:rPr lang="en-US" dirty="0"/>
              <a:t>: excellent discrimination.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AUC = 1.0</a:t>
            </a:r>
            <a:r>
              <a:rPr lang="en-US" dirty="0"/>
              <a:t>: perfect classification. </a:t>
            </a:r>
          </a:p>
          <a:p>
            <a:pPr>
              <a:buNone/>
            </a:pPr>
            <a:r>
              <a:rPr lang="en-US" dirty="0"/>
              <a:t>An AUC below 0.5 indicates that the model performs worse than random guessing, suggesting that its predictions are systematically inverted.</a:t>
            </a:r>
          </a:p>
        </p:txBody>
      </p:sp>
    </p:spTree>
    <p:extLst>
      <p:ext uri="{BB962C8B-B14F-4D97-AF65-F5344CB8AC3E}">
        <p14:creationId xmlns:p14="http://schemas.microsoft.com/office/powerpoint/2010/main" val="416053370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1608</TotalTime>
  <Words>651</Words>
  <Application>Microsoft Office PowerPoint</Application>
  <PresentationFormat>Grand écran</PresentationFormat>
  <Paragraphs>72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Antoine Pierrard</dc:creator>
  <cp:lastModifiedBy>Antoine Pierrard</cp:lastModifiedBy>
  <cp:revision>3</cp:revision>
  <dcterms:created xsi:type="dcterms:W3CDTF">2026-05-14T15:23:06Z</dcterms:created>
  <dcterms:modified xsi:type="dcterms:W3CDTF">2026-08-11T07:47:27Z</dcterms:modified>
</cp:coreProperties>
</file>