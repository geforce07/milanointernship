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68" d="100"/>
          <a:sy n="68" d="100"/>
        </p:scale>
        <p:origin x="996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00C899-96AE-7E53-83F4-3FD7130E2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5FB8756-FD8A-DB23-78AE-56773E646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460F7B-D5A7-9EEB-6BF9-50B4F2DA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ADFE9A-838E-5943-46B2-2C91003B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E0834D-723B-E174-86B5-4A78937C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561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F39414-833A-4791-349A-2CDADC4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0D586E-1D9A-C123-E112-9BC06A730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A5FD31-40E3-EEDC-8027-B5D1DDC9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B813-BBB0-A427-2696-8DFCA1B3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91522-8F56-51E4-827C-0EF55094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85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46880-F95B-A6C6-7784-31FAFB598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F80D43-690F-B7EB-0865-DC74CDB60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861339-F2F1-D548-54EA-591E1B69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222608-D05F-4B32-5F66-835B1C665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B9429C-CF6D-AA0A-35F6-07922C20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34BEC1-CE97-A152-573A-9B49A6AF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5BE330-A51D-817F-6869-B92CC5403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5F7BD51-76B7-0FB3-64BF-726A7DE9C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0E5533-C91C-A826-5BCE-A63AFC15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21B4C2-090A-09EA-054A-D1E321E3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89AF36-F72A-A725-7E7C-FF6A380D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9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9958D5-379F-AFF5-6B88-FDEF19B33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0FF033-BBEA-2397-D8D1-24457E69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F00339-6F34-0A02-16AB-A50E052A2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EF83A8-CC60-E2E5-6D28-DE7FDF9AB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8C62BD3-14B7-066F-76D8-140B519EB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44AA6B8-3655-170E-C6B0-F34F4226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DDB881C-837F-A6C3-1547-1A260DC4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DD93716-1FB0-EFD7-9617-5D252D7E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858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C029B-19A8-2CF2-88EA-A4733EFC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BC2FBCE-63A0-2F42-ADBC-8CBEA08B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AAD1C2-13C3-115E-AD95-CA8DDEA4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CB3433-7AA9-2DF5-4DDD-5E3C6B1C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939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F729AEB-0766-EE03-7DED-F87ED2183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635B573-F7DF-CA99-41CF-AA3690F5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B8489D-5F4A-A703-203B-66406384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51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AE894-B03F-4E2A-1256-6B1C1ADE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06AA31-B41A-A2C9-48ED-6B6AD6AE3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021969-9E9D-F3F0-6E7B-5EF87A4E3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FF465E-1E80-CFC1-AE59-1776F5422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EE22BA8-517B-D5F7-FA10-44E9388A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473508-0C90-E9C6-96C8-79A12244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46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8D5367-61CA-06FB-29D9-C2E2B174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8862E94-8BFF-C7DE-45E8-D145B8561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518577-D9FF-EDBF-A96D-96C2C6E32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E108AE-4BF8-4E36-E0BD-13A0A0F55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3EF689-8E9F-2A2F-AF4B-3AD474C01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402FEA-6495-7AFB-15CE-D11B2608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451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AB77F-0465-EC1B-A042-DBD8E961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5D44F1-3D2D-7A76-5DA9-6F52E7DBB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A0D636-74A2-6D04-332B-C1D19C09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1B23FF-DEAD-0465-5C93-619A1921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F8768A-8531-E9A2-EE9E-1822DB41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153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B8CC62-64E0-093B-28E6-0004064B1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B9CB85D-24CA-1C2C-A715-0AFFAB1A1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1F9C46-43FF-F7E5-CBE2-A9925C56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80E52E-7F7F-D3D7-8717-46224FF4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2494D6-97C3-7854-A6EE-B8C1DF5A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42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46588D2-8455-7D68-D7C2-E0175E9A8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B4C10E-BDA4-6684-95B3-0F7F06841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6FD1D8-A1AB-1BC4-EE86-ABB644023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C1CEC-8393-493B-9DB4-935D96BC96F2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C79082-8671-1DDA-4C62-B2F207283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CE4A36-D9C0-748E-0A06-F67FC4CFB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A4B84-43A3-4C09-BA01-FF3961492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56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A183-384A-C08A-05F2-06920BFEA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FABE12C-B466-85FA-E813-AB29BF243CEB}"/>
              </a:ext>
            </a:extLst>
          </p:cNvPr>
          <p:cNvSpPr txBox="1"/>
          <p:nvPr/>
        </p:nvSpPr>
        <p:spPr>
          <a:xfrm>
            <a:off x="263047" y="200416"/>
            <a:ext cx="8780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Aharoni" panose="020F0502020204030204" pitchFamily="2" charset="-79"/>
                <a:cs typeface="Aharoni" panose="020F0502020204030204" pitchFamily="2" charset="-79"/>
              </a:rPr>
              <a:t>1- </a:t>
            </a:r>
            <a:r>
              <a:rPr lang="en-US" sz="2400" dirty="0">
                <a:latin typeface="Aharoni" panose="020F0502020204030204" pitchFamily="2" charset="-79"/>
                <a:cs typeface="Aharoni" panose="020F0502020204030204" pitchFamily="2" charset="-79"/>
              </a:rPr>
              <a:t>The connectome of a Drosophila: a beautiful tangled mess! But can we untangle it?</a:t>
            </a:r>
            <a:r>
              <a:rPr lang="fr-FR" sz="2400" dirty="0">
                <a:latin typeface="Aharoni" panose="020F0502020204030204" pitchFamily="2" charset="-79"/>
                <a:cs typeface="Aharoni" panose="020F0502020204030204" pitchFamily="2" charset="-79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CA18B-01D7-3D4A-50BF-9D75E56008B3}"/>
              </a:ext>
            </a:extLst>
          </p:cNvPr>
          <p:cNvSpPr/>
          <p:nvPr/>
        </p:nvSpPr>
        <p:spPr>
          <a:xfrm>
            <a:off x="1304794" y="1311058"/>
            <a:ext cx="5943600" cy="47035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E911CBC-FE73-5A60-D48E-9F4774F63AE2}"/>
              </a:ext>
            </a:extLst>
          </p:cNvPr>
          <p:cNvSpPr/>
          <p:nvPr/>
        </p:nvSpPr>
        <p:spPr>
          <a:xfrm>
            <a:off x="2110636" y="2054269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6DDDEC0-69FD-38BB-E2BC-02ACE25F8A9E}"/>
              </a:ext>
            </a:extLst>
          </p:cNvPr>
          <p:cNvSpPr/>
          <p:nvPr/>
        </p:nvSpPr>
        <p:spPr>
          <a:xfrm>
            <a:off x="3212926" y="2054269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6A7A5E1-014A-510D-6B21-5C0F7DB44BED}"/>
              </a:ext>
            </a:extLst>
          </p:cNvPr>
          <p:cNvSpPr/>
          <p:nvPr/>
        </p:nvSpPr>
        <p:spPr>
          <a:xfrm>
            <a:off x="2845496" y="3083491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F6E1735-6743-9AD3-BC47-3B2AE47DE9A4}"/>
              </a:ext>
            </a:extLst>
          </p:cNvPr>
          <p:cNvSpPr/>
          <p:nvPr/>
        </p:nvSpPr>
        <p:spPr>
          <a:xfrm>
            <a:off x="4811037" y="3291214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1672B5A-E455-3AD6-E504-ACE3868D847B}"/>
              </a:ext>
            </a:extLst>
          </p:cNvPr>
          <p:cNvSpPr/>
          <p:nvPr/>
        </p:nvSpPr>
        <p:spPr>
          <a:xfrm>
            <a:off x="4276594" y="2213976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EC31B52-FA41-E188-EA9A-88AB60FC633C}"/>
              </a:ext>
            </a:extLst>
          </p:cNvPr>
          <p:cNvSpPr/>
          <p:nvPr/>
        </p:nvSpPr>
        <p:spPr>
          <a:xfrm>
            <a:off x="2098110" y="4323567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53D21E9-8F1B-B54D-89DE-406EA07C691C}"/>
              </a:ext>
            </a:extLst>
          </p:cNvPr>
          <p:cNvSpPr/>
          <p:nvPr/>
        </p:nvSpPr>
        <p:spPr>
          <a:xfrm>
            <a:off x="3862191" y="4472314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2B4D760-BE0A-40CD-AAFD-3BB0A2EEC306}"/>
              </a:ext>
            </a:extLst>
          </p:cNvPr>
          <p:cNvSpPr/>
          <p:nvPr/>
        </p:nvSpPr>
        <p:spPr>
          <a:xfrm>
            <a:off x="5745271" y="2066795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977B027-9AF2-556E-C5AE-4DE583467A78}"/>
              </a:ext>
            </a:extLst>
          </p:cNvPr>
          <p:cNvSpPr/>
          <p:nvPr/>
        </p:nvSpPr>
        <p:spPr>
          <a:xfrm>
            <a:off x="6007274" y="4956132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864798BA-6A15-44FE-3691-F990A3FB1FCF}"/>
              </a:ext>
            </a:extLst>
          </p:cNvPr>
          <p:cNvSpPr/>
          <p:nvPr/>
        </p:nvSpPr>
        <p:spPr>
          <a:xfrm>
            <a:off x="6240050" y="3515639"/>
            <a:ext cx="281836" cy="2943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B0761B67-458A-387F-EBEE-C375613B5832}"/>
              </a:ext>
            </a:extLst>
          </p:cNvPr>
          <p:cNvCxnSpPr>
            <a:cxnSpLocks/>
          </p:cNvCxnSpPr>
          <p:nvPr/>
        </p:nvCxnSpPr>
        <p:spPr>
          <a:xfrm>
            <a:off x="2251554" y="2201450"/>
            <a:ext cx="635216" cy="912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D79FC2E-2B0D-5684-45AC-6655C00B8E6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417512" y="2361157"/>
            <a:ext cx="434799" cy="9731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6DB49F72-CF46-3315-BFDD-68BF481EFCF9}"/>
              </a:ext>
            </a:extLst>
          </p:cNvPr>
          <p:cNvCxnSpPr>
            <a:cxnSpLocks/>
            <a:endCxn id="14" idx="6"/>
          </p:cNvCxnSpPr>
          <p:nvPr/>
        </p:nvCxnSpPr>
        <p:spPr>
          <a:xfrm>
            <a:off x="3418478" y="2201449"/>
            <a:ext cx="2608629" cy="125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DD7C2AA7-E65B-12B4-2F40-BAA1A4592CE1}"/>
              </a:ext>
            </a:extLst>
          </p:cNvPr>
          <p:cNvCxnSpPr>
            <a:cxnSpLocks/>
          </p:cNvCxnSpPr>
          <p:nvPr/>
        </p:nvCxnSpPr>
        <p:spPr>
          <a:xfrm>
            <a:off x="2349957" y="2170868"/>
            <a:ext cx="3792534" cy="2932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38C2242B-4910-8E8C-D026-648956EDA010}"/>
              </a:ext>
            </a:extLst>
          </p:cNvPr>
          <p:cNvCxnSpPr>
            <a:cxnSpLocks/>
          </p:cNvCxnSpPr>
          <p:nvPr/>
        </p:nvCxnSpPr>
        <p:spPr>
          <a:xfrm>
            <a:off x="3345778" y="2213976"/>
            <a:ext cx="3020293" cy="1448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0EC00145-E4ED-90C9-83AF-5942DE7A22B1}"/>
              </a:ext>
            </a:extLst>
          </p:cNvPr>
          <p:cNvCxnSpPr>
            <a:cxnSpLocks/>
          </p:cNvCxnSpPr>
          <p:nvPr/>
        </p:nvCxnSpPr>
        <p:spPr>
          <a:xfrm>
            <a:off x="2221805" y="2240072"/>
            <a:ext cx="16137" cy="22306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D2D63B8-86BC-0F80-4A50-C9A40A940879}"/>
              </a:ext>
            </a:extLst>
          </p:cNvPr>
          <p:cNvCxnSpPr>
            <a:cxnSpLocks/>
          </p:cNvCxnSpPr>
          <p:nvPr/>
        </p:nvCxnSpPr>
        <p:spPr>
          <a:xfrm flipH="1">
            <a:off x="3956219" y="3475451"/>
            <a:ext cx="981124" cy="11836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3B42B03-934A-FFF2-4535-23AA9014E4C9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2936969" y="3180778"/>
            <a:ext cx="1874068" cy="2576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ac-de-noeuds-ta - Filmo, dessins de Filmo, Affiches, illustrations,mer,  marins, bateau, voilers">
            <a:extLst>
              <a:ext uri="{FF2B5EF4-FFF2-40B4-BE49-F238E27FC236}">
                <a16:creationId xmlns:a16="http://schemas.microsoft.com/office/drawing/2014/main" id="{B9129B16-0E09-1ED0-3B08-89F75A9F9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215" y="2054269"/>
            <a:ext cx="3334972" cy="333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482CF78-8038-AB3A-BE7F-395E94F0165C}"/>
              </a:ext>
            </a:extLst>
          </p:cNvPr>
          <p:cNvSpPr txBox="1"/>
          <p:nvPr/>
        </p:nvSpPr>
        <p:spPr>
          <a:xfrm>
            <a:off x="1368990" y="6039704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Drosophila </a:t>
            </a:r>
            <a:r>
              <a:rPr lang="fr-FR" dirty="0" err="1"/>
              <a:t>raw</a:t>
            </a:r>
            <a:r>
              <a:rPr lang="fr-FR" dirty="0"/>
              <a:t> connectome : </a:t>
            </a:r>
          </a:p>
          <a:p>
            <a:pPr algn="ctr"/>
            <a:r>
              <a:rPr lang="en-US" dirty="0"/>
              <a:t>At first sight, structureless, almost like noise.</a:t>
            </a:r>
            <a:r>
              <a:rPr lang="fr-FR" dirty="0"/>
              <a:t> 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B761875-3077-18DA-D52E-C21121D61BAC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6247836" y="3662820"/>
            <a:ext cx="118235" cy="1336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660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1D62-7363-08EF-9EBC-55EAF58A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1C8CC34-1922-8DBB-D42C-6DCEADA21630}"/>
              </a:ext>
            </a:extLst>
          </p:cNvPr>
          <p:cNvSpPr txBox="1"/>
          <p:nvPr/>
        </p:nvSpPr>
        <p:spPr>
          <a:xfrm>
            <a:off x="56300" y="145743"/>
            <a:ext cx="8319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haroni" panose="020F0502020204030204" pitchFamily="2" charset="-79"/>
                <a:cs typeface="Aharoni" panose="020F0502020204030204" pitchFamily="2" charset="-79"/>
              </a:rPr>
              <a:t>2- And what if we grouped neurons by their angular preference and then sorted them accordingly?</a:t>
            </a:r>
            <a:endParaRPr lang="fr-FR" sz="24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C8ABB4-573E-B8E7-9039-5DDBC4FA9824}"/>
              </a:ext>
            </a:extLst>
          </p:cNvPr>
          <p:cNvSpPr/>
          <p:nvPr/>
        </p:nvSpPr>
        <p:spPr>
          <a:xfrm>
            <a:off x="427972" y="1142027"/>
            <a:ext cx="5943600" cy="47035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38E886C-9A5B-903A-A4C5-1BC3CACE1A60}"/>
              </a:ext>
            </a:extLst>
          </p:cNvPr>
          <p:cNvSpPr/>
          <p:nvPr/>
        </p:nvSpPr>
        <p:spPr>
          <a:xfrm>
            <a:off x="1233814" y="1844824"/>
            <a:ext cx="281836" cy="29436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3512B34-07AF-5C05-2996-5BEECA55C116}"/>
              </a:ext>
            </a:extLst>
          </p:cNvPr>
          <p:cNvSpPr/>
          <p:nvPr/>
        </p:nvSpPr>
        <p:spPr>
          <a:xfrm>
            <a:off x="2336104" y="1848689"/>
            <a:ext cx="281836" cy="29436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A68CCD1-0E93-7237-BA81-F4AFCF3CFB9D}"/>
              </a:ext>
            </a:extLst>
          </p:cNvPr>
          <p:cNvSpPr/>
          <p:nvPr/>
        </p:nvSpPr>
        <p:spPr>
          <a:xfrm>
            <a:off x="1967433" y="2876289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DC83795-779B-6C9A-B7A7-4D6D60CB00F3}"/>
              </a:ext>
            </a:extLst>
          </p:cNvPr>
          <p:cNvSpPr/>
          <p:nvPr/>
        </p:nvSpPr>
        <p:spPr>
          <a:xfrm>
            <a:off x="3934215" y="3097060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124F06C-F948-F1B1-F87D-FD783BA714DA}"/>
              </a:ext>
            </a:extLst>
          </p:cNvPr>
          <p:cNvSpPr/>
          <p:nvPr/>
        </p:nvSpPr>
        <p:spPr>
          <a:xfrm>
            <a:off x="3399772" y="2019822"/>
            <a:ext cx="281836" cy="29436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42FE7BD-0EEA-1DAB-99BD-1F0FC4C2BAD5}"/>
              </a:ext>
            </a:extLst>
          </p:cNvPr>
          <p:cNvSpPr/>
          <p:nvPr/>
        </p:nvSpPr>
        <p:spPr>
          <a:xfrm>
            <a:off x="1221288" y="4129413"/>
            <a:ext cx="281836" cy="29436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601E7E0-DFD4-781A-78FD-D5EB0BDBDA1D}"/>
              </a:ext>
            </a:extLst>
          </p:cNvPr>
          <p:cNvSpPr/>
          <p:nvPr/>
        </p:nvSpPr>
        <p:spPr>
          <a:xfrm>
            <a:off x="2985369" y="4278160"/>
            <a:ext cx="281836" cy="294362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F40DB0B-2E57-8547-47F2-A6839261547B}"/>
              </a:ext>
            </a:extLst>
          </p:cNvPr>
          <p:cNvSpPr/>
          <p:nvPr/>
        </p:nvSpPr>
        <p:spPr>
          <a:xfrm>
            <a:off x="4870978" y="1837996"/>
            <a:ext cx="281836" cy="29436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8FAC095-4562-85A4-861D-7B803D6106A2}"/>
              </a:ext>
            </a:extLst>
          </p:cNvPr>
          <p:cNvSpPr/>
          <p:nvPr/>
        </p:nvSpPr>
        <p:spPr>
          <a:xfrm>
            <a:off x="5130452" y="4761978"/>
            <a:ext cx="281836" cy="294362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34A27AE-8B7C-0A7A-7278-F801DD1C5BB0}"/>
              </a:ext>
            </a:extLst>
          </p:cNvPr>
          <p:cNvSpPr/>
          <p:nvPr/>
        </p:nvSpPr>
        <p:spPr>
          <a:xfrm>
            <a:off x="5363228" y="3321485"/>
            <a:ext cx="281836" cy="29436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3DC9BC3-2876-80ED-562F-EC3CF52B92BB}"/>
              </a:ext>
            </a:extLst>
          </p:cNvPr>
          <p:cNvCxnSpPr>
            <a:cxnSpLocks/>
          </p:cNvCxnSpPr>
          <p:nvPr/>
        </p:nvCxnSpPr>
        <p:spPr>
          <a:xfrm>
            <a:off x="1374732" y="2007296"/>
            <a:ext cx="635216" cy="912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36DC729-FAAF-E3E3-E6B0-B39483DF709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540690" y="2167003"/>
            <a:ext cx="434799" cy="9731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5B7101E-0BA8-0096-C16A-173E5F3A3677}"/>
              </a:ext>
            </a:extLst>
          </p:cNvPr>
          <p:cNvCxnSpPr>
            <a:cxnSpLocks/>
          </p:cNvCxnSpPr>
          <p:nvPr/>
        </p:nvCxnSpPr>
        <p:spPr>
          <a:xfrm>
            <a:off x="2440085" y="2001032"/>
            <a:ext cx="2608629" cy="125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56B7DC6-9C88-057D-6E6F-175295C8C638}"/>
              </a:ext>
            </a:extLst>
          </p:cNvPr>
          <p:cNvCxnSpPr>
            <a:cxnSpLocks/>
          </p:cNvCxnSpPr>
          <p:nvPr/>
        </p:nvCxnSpPr>
        <p:spPr>
          <a:xfrm>
            <a:off x="1473135" y="1976714"/>
            <a:ext cx="3792534" cy="2932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F978CCAF-85C7-2B28-8D03-4ED9F3F461A7}"/>
              </a:ext>
            </a:extLst>
          </p:cNvPr>
          <p:cNvCxnSpPr>
            <a:cxnSpLocks/>
          </p:cNvCxnSpPr>
          <p:nvPr/>
        </p:nvCxnSpPr>
        <p:spPr>
          <a:xfrm>
            <a:off x="2468956" y="2007246"/>
            <a:ext cx="3020293" cy="1448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1D60FE76-30F2-36E7-B078-8FAA2C085144}"/>
              </a:ext>
            </a:extLst>
          </p:cNvPr>
          <p:cNvCxnSpPr>
            <a:cxnSpLocks/>
          </p:cNvCxnSpPr>
          <p:nvPr/>
        </p:nvCxnSpPr>
        <p:spPr>
          <a:xfrm>
            <a:off x="1344983" y="2045918"/>
            <a:ext cx="16137" cy="22306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34A3C18-5733-6B5D-D421-C79CA19B1C38}"/>
              </a:ext>
            </a:extLst>
          </p:cNvPr>
          <p:cNvCxnSpPr>
            <a:cxnSpLocks/>
          </p:cNvCxnSpPr>
          <p:nvPr/>
        </p:nvCxnSpPr>
        <p:spPr>
          <a:xfrm flipH="1">
            <a:off x="3070962" y="3263149"/>
            <a:ext cx="981124" cy="11836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866E655E-75CD-FDD6-0554-E722FB2C5E7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2060147" y="2986624"/>
            <a:ext cx="1874068" cy="2576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E00D08C7-8A44-89D5-8E6F-0F3928CD373D}"/>
              </a:ext>
            </a:extLst>
          </p:cNvPr>
          <p:cNvSpPr/>
          <p:nvPr/>
        </p:nvSpPr>
        <p:spPr>
          <a:xfrm>
            <a:off x="1684751" y="5845550"/>
            <a:ext cx="281836" cy="29436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BA6FA4F-E5DA-084A-C702-84082FD4B54A}"/>
              </a:ext>
            </a:extLst>
          </p:cNvPr>
          <p:cNvCxnSpPr>
            <a:cxnSpLocks/>
          </p:cNvCxnSpPr>
          <p:nvPr/>
        </p:nvCxnSpPr>
        <p:spPr>
          <a:xfrm flipV="1">
            <a:off x="5359697" y="3493788"/>
            <a:ext cx="129552" cy="14153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76DA2E39-C053-C5EF-1954-39EA0A9EAA89}"/>
              </a:ext>
            </a:extLst>
          </p:cNvPr>
          <p:cNvSpPr txBox="1"/>
          <p:nvPr/>
        </p:nvSpPr>
        <p:spPr>
          <a:xfrm>
            <a:off x="1709803" y="5814526"/>
            <a:ext cx="3551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preference</a:t>
            </a:r>
            <a:r>
              <a:rPr lang="fr-FR" dirty="0"/>
              <a:t> </a:t>
            </a:r>
            <a:r>
              <a:rPr lang="fr-FR" b="1" dirty="0"/>
              <a:t>∈ [0°, 72°]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FC55C46-3831-AD35-0A40-534159BD92BF}"/>
              </a:ext>
            </a:extLst>
          </p:cNvPr>
          <p:cNvSpPr txBox="1"/>
          <p:nvPr/>
        </p:nvSpPr>
        <p:spPr>
          <a:xfrm>
            <a:off x="586113" y="6076957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preference</a:t>
            </a:r>
            <a:r>
              <a:rPr lang="fr-FR" dirty="0"/>
              <a:t> </a:t>
            </a:r>
            <a:r>
              <a:rPr lang="fr-FR" b="1" dirty="0"/>
              <a:t>∈ [72°, 144°]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1114DE2-9959-6D34-113C-3220962B1955}"/>
              </a:ext>
            </a:extLst>
          </p:cNvPr>
          <p:cNvSpPr/>
          <p:nvPr/>
        </p:nvSpPr>
        <p:spPr>
          <a:xfrm>
            <a:off x="1692340" y="6151052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80CE403-4518-0927-8774-14994BABACF4}"/>
              </a:ext>
            </a:extLst>
          </p:cNvPr>
          <p:cNvSpPr txBox="1"/>
          <p:nvPr/>
        </p:nvSpPr>
        <p:spPr>
          <a:xfrm>
            <a:off x="127107" y="6302509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…</a:t>
            </a:r>
            <a:endParaRPr lang="fr-FR" b="1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1491059E-0225-0B7B-0B9A-7ECF7B705A20}"/>
              </a:ext>
            </a:extLst>
          </p:cNvPr>
          <p:cNvSpPr/>
          <p:nvPr/>
        </p:nvSpPr>
        <p:spPr>
          <a:xfrm>
            <a:off x="1700972" y="6545808"/>
            <a:ext cx="281836" cy="294362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4062541-FBEB-F23B-8FE2-4BDEEA85B160}"/>
              </a:ext>
            </a:extLst>
          </p:cNvPr>
          <p:cNvSpPr txBox="1"/>
          <p:nvPr/>
        </p:nvSpPr>
        <p:spPr>
          <a:xfrm>
            <a:off x="633086" y="6527591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preference</a:t>
            </a:r>
            <a:r>
              <a:rPr lang="fr-FR" dirty="0"/>
              <a:t> </a:t>
            </a:r>
            <a:r>
              <a:rPr lang="fr-FR" b="1" dirty="0"/>
              <a:t>∈ [298°, 360°]</a:t>
            </a:r>
          </a:p>
        </p:txBody>
      </p:sp>
      <p:sp>
        <p:nvSpPr>
          <p:cNvPr id="35" name="Flèche : droite 34">
            <a:extLst>
              <a:ext uri="{FF2B5EF4-FFF2-40B4-BE49-F238E27FC236}">
                <a16:creationId xmlns:a16="http://schemas.microsoft.com/office/drawing/2014/main" id="{76E72115-5A2A-AEFD-63A7-D7CB3C55BB8D}"/>
              </a:ext>
            </a:extLst>
          </p:cNvPr>
          <p:cNvSpPr/>
          <p:nvPr/>
        </p:nvSpPr>
        <p:spPr>
          <a:xfrm>
            <a:off x="6637547" y="3287977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79EEC5-3619-BC0E-3944-B7A5B917C2C6}"/>
              </a:ext>
            </a:extLst>
          </p:cNvPr>
          <p:cNvSpPr/>
          <p:nvPr/>
        </p:nvSpPr>
        <p:spPr>
          <a:xfrm>
            <a:off x="7591532" y="1358369"/>
            <a:ext cx="4057068" cy="4066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9AED9FBB-84A3-E4F9-D66B-FA6BE40E206E}"/>
              </a:ext>
            </a:extLst>
          </p:cNvPr>
          <p:cNvSpPr/>
          <p:nvPr/>
        </p:nvSpPr>
        <p:spPr>
          <a:xfrm>
            <a:off x="8611040" y="2692262"/>
            <a:ext cx="281836" cy="29436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46D8FFB-D2A7-34DA-6609-09985DE0CCAC}"/>
              </a:ext>
            </a:extLst>
          </p:cNvPr>
          <p:cNvSpPr/>
          <p:nvPr/>
        </p:nvSpPr>
        <p:spPr>
          <a:xfrm>
            <a:off x="10169980" y="3949908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F41535D-5A5E-40A5-F35E-25AFD103DB59}"/>
              </a:ext>
            </a:extLst>
          </p:cNvPr>
          <p:cNvSpPr/>
          <p:nvPr/>
        </p:nvSpPr>
        <p:spPr>
          <a:xfrm>
            <a:off x="9470079" y="1975981"/>
            <a:ext cx="281836" cy="29436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4FF274AD-30BF-0450-D32F-418807E0E993}"/>
              </a:ext>
            </a:extLst>
          </p:cNvPr>
          <p:cNvSpPr/>
          <p:nvPr/>
        </p:nvSpPr>
        <p:spPr>
          <a:xfrm>
            <a:off x="10535432" y="2839443"/>
            <a:ext cx="281836" cy="29436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ABB2111E-516B-ABE9-0534-4401F435C64B}"/>
              </a:ext>
            </a:extLst>
          </p:cNvPr>
          <p:cNvSpPr/>
          <p:nvPr/>
        </p:nvSpPr>
        <p:spPr>
          <a:xfrm>
            <a:off x="8739838" y="3907111"/>
            <a:ext cx="281836" cy="294362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AADB32D0-19BB-A574-3CE9-1B584D6FE4B2}"/>
              </a:ext>
            </a:extLst>
          </p:cNvPr>
          <p:cNvCxnSpPr>
            <a:cxnSpLocks/>
          </p:cNvCxnSpPr>
          <p:nvPr/>
        </p:nvCxnSpPr>
        <p:spPr>
          <a:xfrm>
            <a:off x="8731769" y="2825559"/>
            <a:ext cx="140919" cy="1228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9EFB5DB8-0247-6946-46D2-96DE3B8D8244}"/>
              </a:ext>
            </a:extLst>
          </p:cNvPr>
          <p:cNvCxnSpPr>
            <a:cxnSpLocks/>
          </p:cNvCxnSpPr>
          <p:nvPr/>
        </p:nvCxnSpPr>
        <p:spPr>
          <a:xfrm>
            <a:off x="8748822" y="2817667"/>
            <a:ext cx="1459296" cy="11605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A8A80AA8-6305-5A67-4EB2-097023EBA71C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9610997" y="2175233"/>
            <a:ext cx="965709" cy="707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9177E6D9-4EE1-C22D-630C-2061B3D0480F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8769082" y="2227235"/>
            <a:ext cx="742271" cy="6319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59746FBA-D955-62DA-FB5F-5282D06B7C6A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8781112" y="2986624"/>
            <a:ext cx="1895238" cy="1171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4C51DE0B-DEA9-9454-C30E-A4CE9A58D81F}"/>
              </a:ext>
            </a:extLst>
          </p:cNvPr>
          <p:cNvCxnSpPr>
            <a:cxnSpLocks/>
            <a:stCxn id="41" idx="5"/>
          </p:cNvCxnSpPr>
          <p:nvPr/>
        </p:nvCxnSpPr>
        <p:spPr>
          <a:xfrm flipV="1">
            <a:off x="8980400" y="4130582"/>
            <a:ext cx="1380118" cy="277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C0D193D9-9354-AA5A-5146-7344BCB4BF45}"/>
              </a:ext>
            </a:extLst>
          </p:cNvPr>
          <p:cNvSpPr txBox="1"/>
          <p:nvPr/>
        </p:nvSpPr>
        <p:spPr>
          <a:xfrm>
            <a:off x="8033881" y="5503530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Still, no clear structure emerges</a:t>
            </a:r>
            <a:endParaRPr lang="fr-FR" dirty="0"/>
          </a:p>
        </p:txBody>
      </p: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73E4670E-5D90-1F38-B58E-3A046B59FDE7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9610997" y="2153679"/>
            <a:ext cx="600257" cy="18393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87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EFEC-7A85-99A0-5432-3173E303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25445E5-CCD8-AC6D-9104-6666BBBE14F5}"/>
              </a:ext>
            </a:extLst>
          </p:cNvPr>
          <p:cNvSpPr txBox="1"/>
          <p:nvPr/>
        </p:nvSpPr>
        <p:spPr>
          <a:xfrm>
            <a:off x="56300" y="145743"/>
            <a:ext cx="8319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haroni" panose="020F0502020204030204" pitchFamily="2" charset="-79"/>
                <a:cs typeface="Aharoni" panose="020F0502020204030204" pitchFamily="2" charset="-79"/>
              </a:rPr>
              <a:t>3- Well, and what if, in addition to all that, we also separate neurons by type?</a:t>
            </a:r>
            <a:endParaRPr lang="fr-FR" sz="24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703B4E-3EBC-B679-D928-6136D6ECE5C3}"/>
              </a:ext>
            </a:extLst>
          </p:cNvPr>
          <p:cNvSpPr/>
          <p:nvPr/>
        </p:nvSpPr>
        <p:spPr>
          <a:xfrm>
            <a:off x="427972" y="1124025"/>
            <a:ext cx="5943600" cy="47035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4328CB4-704D-D0F1-C383-2B0267A2A626}"/>
              </a:ext>
            </a:extLst>
          </p:cNvPr>
          <p:cNvSpPr/>
          <p:nvPr/>
        </p:nvSpPr>
        <p:spPr>
          <a:xfrm>
            <a:off x="1233814" y="1829378"/>
            <a:ext cx="281836" cy="294362"/>
          </a:xfrm>
          <a:prstGeom prst="ellipse">
            <a:avLst/>
          </a:prstGeom>
          <a:solidFill>
            <a:schemeClr val="tx2"/>
          </a:solidFill>
          <a:ln w="38100">
            <a:noFill/>
            <a:prstDash val="lgDashDot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8923A8A-9E49-C769-1025-FF1966946D7C}"/>
              </a:ext>
            </a:extLst>
          </p:cNvPr>
          <p:cNvSpPr/>
          <p:nvPr/>
        </p:nvSpPr>
        <p:spPr>
          <a:xfrm>
            <a:off x="2336104" y="1848689"/>
            <a:ext cx="281836" cy="29436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1E43A42-B832-A7FF-83BA-9BEEC9551929}"/>
              </a:ext>
            </a:extLst>
          </p:cNvPr>
          <p:cNvSpPr/>
          <p:nvPr/>
        </p:nvSpPr>
        <p:spPr>
          <a:xfrm>
            <a:off x="1967433" y="2876289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0948CA3-F265-55E0-3B8F-B01878FFCC2E}"/>
              </a:ext>
            </a:extLst>
          </p:cNvPr>
          <p:cNvSpPr/>
          <p:nvPr/>
        </p:nvSpPr>
        <p:spPr>
          <a:xfrm>
            <a:off x="3934215" y="3097060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D1F922D-3708-CE19-003B-D655E0CDAA68}"/>
              </a:ext>
            </a:extLst>
          </p:cNvPr>
          <p:cNvSpPr/>
          <p:nvPr/>
        </p:nvSpPr>
        <p:spPr>
          <a:xfrm>
            <a:off x="3399772" y="2019822"/>
            <a:ext cx="281836" cy="29436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D13FC3E-6AC5-7E69-9CAD-04C85D4225D1}"/>
              </a:ext>
            </a:extLst>
          </p:cNvPr>
          <p:cNvSpPr/>
          <p:nvPr/>
        </p:nvSpPr>
        <p:spPr>
          <a:xfrm>
            <a:off x="1221288" y="4129413"/>
            <a:ext cx="281836" cy="29436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C74E955-C6AD-85D2-6FA9-F955A8197BBA}"/>
              </a:ext>
            </a:extLst>
          </p:cNvPr>
          <p:cNvSpPr/>
          <p:nvPr/>
        </p:nvSpPr>
        <p:spPr>
          <a:xfrm>
            <a:off x="5130452" y="4761978"/>
            <a:ext cx="281836" cy="294362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2609397-5D05-B1D5-6835-511F8673A0D0}"/>
              </a:ext>
            </a:extLst>
          </p:cNvPr>
          <p:cNvSpPr/>
          <p:nvPr/>
        </p:nvSpPr>
        <p:spPr>
          <a:xfrm>
            <a:off x="5363228" y="3321485"/>
            <a:ext cx="281836" cy="29436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193598B-DA86-7C69-2850-0BB1618BA092}"/>
              </a:ext>
            </a:extLst>
          </p:cNvPr>
          <p:cNvCxnSpPr>
            <a:cxnSpLocks/>
          </p:cNvCxnSpPr>
          <p:nvPr/>
        </p:nvCxnSpPr>
        <p:spPr>
          <a:xfrm>
            <a:off x="1374732" y="2007296"/>
            <a:ext cx="635216" cy="912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D03ECB49-DF02-151E-FD70-A18FC96E76A0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540690" y="2167003"/>
            <a:ext cx="434799" cy="9731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ED8EAAA7-E697-B9EA-D0C2-916483037A8D}"/>
              </a:ext>
            </a:extLst>
          </p:cNvPr>
          <p:cNvCxnSpPr>
            <a:cxnSpLocks/>
          </p:cNvCxnSpPr>
          <p:nvPr/>
        </p:nvCxnSpPr>
        <p:spPr>
          <a:xfrm>
            <a:off x="2440085" y="2001032"/>
            <a:ext cx="2608629" cy="125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D6A83996-D0F8-D519-14E4-08B5753574C9}"/>
              </a:ext>
            </a:extLst>
          </p:cNvPr>
          <p:cNvCxnSpPr>
            <a:cxnSpLocks/>
          </p:cNvCxnSpPr>
          <p:nvPr/>
        </p:nvCxnSpPr>
        <p:spPr>
          <a:xfrm>
            <a:off x="1473135" y="1976714"/>
            <a:ext cx="3792534" cy="2932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9079B952-3457-8797-4A9B-C398E61EF170}"/>
              </a:ext>
            </a:extLst>
          </p:cNvPr>
          <p:cNvCxnSpPr>
            <a:cxnSpLocks/>
          </p:cNvCxnSpPr>
          <p:nvPr/>
        </p:nvCxnSpPr>
        <p:spPr>
          <a:xfrm>
            <a:off x="2468956" y="2007246"/>
            <a:ext cx="3020293" cy="1448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2478B2D1-5D8A-ED40-E371-3D556E0670A9}"/>
              </a:ext>
            </a:extLst>
          </p:cNvPr>
          <p:cNvCxnSpPr>
            <a:cxnSpLocks/>
          </p:cNvCxnSpPr>
          <p:nvPr/>
        </p:nvCxnSpPr>
        <p:spPr>
          <a:xfrm>
            <a:off x="1344983" y="2045918"/>
            <a:ext cx="16137" cy="22306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619D0E6-33F6-0687-737C-D761805F5531}"/>
              </a:ext>
            </a:extLst>
          </p:cNvPr>
          <p:cNvCxnSpPr>
            <a:cxnSpLocks/>
          </p:cNvCxnSpPr>
          <p:nvPr/>
        </p:nvCxnSpPr>
        <p:spPr>
          <a:xfrm flipH="1">
            <a:off x="3070962" y="3263149"/>
            <a:ext cx="981124" cy="11836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604A4E1-DB48-9A1C-C1FF-6EC32137CA35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2060147" y="2986624"/>
            <a:ext cx="1874068" cy="2576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AD2DD6AF-FC91-41B9-F541-14D30E418043}"/>
              </a:ext>
            </a:extLst>
          </p:cNvPr>
          <p:cNvSpPr/>
          <p:nvPr/>
        </p:nvSpPr>
        <p:spPr>
          <a:xfrm>
            <a:off x="313151" y="5851190"/>
            <a:ext cx="281836" cy="29436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F1FD527-C9F1-6EE3-F626-C102AF2BE496}"/>
              </a:ext>
            </a:extLst>
          </p:cNvPr>
          <p:cNvCxnSpPr>
            <a:cxnSpLocks/>
          </p:cNvCxnSpPr>
          <p:nvPr/>
        </p:nvCxnSpPr>
        <p:spPr>
          <a:xfrm flipV="1">
            <a:off x="5359697" y="3493788"/>
            <a:ext cx="129552" cy="14153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C608879-2713-AB91-5036-CF7C60CDB3DE}"/>
              </a:ext>
            </a:extLst>
          </p:cNvPr>
          <p:cNvSpPr txBox="1"/>
          <p:nvPr/>
        </p:nvSpPr>
        <p:spPr>
          <a:xfrm>
            <a:off x="338203" y="5820166"/>
            <a:ext cx="3551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preference</a:t>
            </a:r>
            <a:r>
              <a:rPr lang="fr-FR" dirty="0"/>
              <a:t> </a:t>
            </a:r>
            <a:r>
              <a:rPr lang="fr-FR" b="1" dirty="0"/>
              <a:t>∈ [0°, 72°]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58695C8-53D7-FCBC-B1FB-9E69B3C8D3FA}"/>
              </a:ext>
            </a:extLst>
          </p:cNvPr>
          <p:cNvSpPr txBox="1"/>
          <p:nvPr/>
        </p:nvSpPr>
        <p:spPr>
          <a:xfrm>
            <a:off x="-812395" y="6161880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preference</a:t>
            </a:r>
            <a:r>
              <a:rPr lang="fr-FR" dirty="0"/>
              <a:t> </a:t>
            </a:r>
            <a:r>
              <a:rPr lang="fr-FR" b="1" dirty="0"/>
              <a:t>∈ [72°, 144°]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F97517A-7684-EC57-4699-3BA1609F66B1}"/>
              </a:ext>
            </a:extLst>
          </p:cNvPr>
          <p:cNvSpPr/>
          <p:nvPr/>
        </p:nvSpPr>
        <p:spPr>
          <a:xfrm>
            <a:off x="320740" y="6156692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D084B00-EAA4-7B47-6E2D-79591FB13B2A}"/>
              </a:ext>
            </a:extLst>
          </p:cNvPr>
          <p:cNvSpPr txBox="1"/>
          <p:nvPr/>
        </p:nvSpPr>
        <p:spPr>
          <a:xfrm>
            <a:off x="105369" y="6282267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…</a:t>
            </a:r>
            <a:endParaRPr lang="fr-FR" b="1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D70E865-04FA-B422-4C6C-B567FBC173D5}"/>
              </a:ext>
            </a:extLst>
          </p:cNvPr>
          <p:cNvSpPr/>
          <p:nvPr/>
        </p:nvSpPr>
        <p:spPr>
          <a:xfrm>
            <a:off x="329372" y="6551448"/>
            <a:ext cx="281836" cy="294362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7013906-05A2-9529-7781-A5EC70B82E87}"/>
              </a:ext>
            </a:extLst>
          </p:cNvPr>
          <p:cNvSpPr txBox="1"/>
          <p:nvPr/>
        </p:nvSpPr>
        <p:spPr>
          <a:xfrm>
            <a:off x="-738514" y="6469197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/>
              <a:t>Angular preference </a:t>
            </a:r>
            <a:r>
              <a:rPr lang="fr-FR" b="1"/>
              <a:t>∈ [298°, 360°]</a:t>
            </a:r>
            <a:endParaRPr lang="fr-FR" b="1" dirty="0"/>
          </a:p>
        </p:txBody>
      </p:sp>
      <p:sp>
        <p:nvSpPr>
          <p:cNvPr id="35" name="Flèche : droite 34">
            <a:extLst>
              <a:ext uri="{FF2B5EF4-FFF2-40B4-BE49-F238E27FC236}">
                <a16:creationId xmlns:a16="http://schemas.microsoft.com/office/drawing/2014/main" id="{D63BB857-F5DD-DC37-6ED0-5D409D7DAA67}"/>
              </a:ext>
            </a:extLst>
          </p:cNvPr>
          <p:cNvSpPr/>
          <p:nvPr/>
        </p:nvSpPr>
        <p:spPr>
          <a:xfrm>
            <a:off x="6637547" y="3287977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1C2EDC-A02C-B4C2-D041-FC1488D0B92D}"/>
              </a:ext>
            </a:extLst>
          </p:cNvPr>
          <p:cNvSpPr/>
          <p:nvPr/>
        </p:nvSpPr>
        <p:spPr>
          <a:xfrm>
            <a:off x="7598926" y="1137598"/>
            <a:ext cx="4057068" cy="4066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86E674E-035F-1D2F-B5A9-F4220DAD4F4F}"/>
              </a:ext>
            </a:extLst>
          </p:cNvPr>
          <p:cNvSpPr/>
          <p:nvPr/>
        </p:nvSpPr>
        <p:spPr>
          <a:xfrm>
            <a:off x="8862824" y="3071939"/>
            <a:ext cx="281836" cy="29436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FD008DA-B4BA-9A9B-1BC0-D4E2CCFC76FA}"/>
              </a:ext>
            </a:extLst>
          </p:cNvPr>
          <p:cNvSpPr/>
          <p:nvPr/>
        </p:nvSpPr>
        <p:spPr>
          <a:xfrm>
            <a:off x="9675459" y="2457945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AF25A89-139B-DEE7-37DD-4A607FDE1D3C}"/>
              </a:ext>
            </a:extLst>
          </p:cNvPr>
          <p:cNvSpPr/>
          <p:nvPr/>
        </p:nvSpPr>
        <p:spPr>
          <a:xfrm>
            <a:off x="10541830" y="3099882"/>
            <a:ext cx="281836" cy="29436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0F9733F-8A46-6D64-56BF-39FEA271A817}"/>
              </a:ext>
            </a:extLst>
          </p:cNvPr>
          <p:cNvSpPr/>
          <p:nvPr/>
        </p:nvSpPr>
        <p:spPr>
          <a:xfrm>
            <a:off x="10246059" y="4242056"/>
            <a:ext cx="281836" cy="29436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86EF6DFE-BBD4-BE01-BE8F-2FD48626BD7C}"/>
              </a:ext>
            </a:extLst>
          </p:cNvPr>
          <p:cNvSpPr/>
          <p:nvPr/>
        </p:nvSpPr>
        <p:spPr>
          <a:xfrm>
            <a:off x="9084081" y="4278396"/>
            <a:ext cx="281836" cy="294362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CED49A0C-A9A2-77D1-A3C5-FEC8D659E51A}"/>
              </a:ext>
            </a:extLst>
          </p:cNvPr>
          <p:cNvSpPr txBox="1"/>
          <p:nvPr/>
        </p:nvSpPr>
        <p:spPr>
          <a:xfrm>
            <a:off x="7119481" y="5281259"/>
            <a:ext cx="5015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 much more structured and interpretable pattern appears</a:t>
            </a:r>
            <a:endParaRPr lang="fr-FR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5F0E64C-296E-57E3-8D9C-17F335D1E2F9}"/>
              </a:ext>
            </a:extLst>
          </p:cNvPr>
          <p:cNvSpPr/>
          <p:nvPr/>
        </p:nvSpPr>
        <p:spPr>
          <a:xfrm>
            <a:off x="4873007" y="1819414"/>
            <a:ext cx="281836" cy="294362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818C8E9-713E-2679-3FE8-C3758119B259}"/>
              </a:ext>
            </a:extLst>
          </p:cNvPr>
          <p:cNvSpPr/>
          <p:nvPr/>
        </p:nvSpPr>
        <p:spPr>
          <a:xfrm>
            <a:off x="2872055" y="4334025"/>
            <a:ext cx="281836" cy="294362"/>
          </a:xfrm>
          <a:prstGeom prst="ellipse">
            <a:avLst/>
          </a:prstGeom>
          <a:solidFill>
            <a:schemeClr val="accent5"/>
          </a:solidFill>
          <a:ln w="57150"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D74BAC5-369B-86C8-350A-74F41540B4A3}"/>
              </a:ext>
            </a:extLst>
          </p:cNvPr>
          <p:cNvSpPr/>
          <p:nvPr/>
        </p:nvSpPr>
        <p:spPr>
          <a:xfrm>
            <a:off x="4226259" y="5832627"/>
            <a:ext cx="281836" cy="294362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CFCA9DE-EF82-B8FA-9DEB-1FF041217CAB}"/>
              </a:ext>
            </a:extLst>
          </p:cNvPr>
          <p:cNvSpPr txBox="1"/>
          <p:nvPr/>
        </p:nvSpPr>
        <p:spPr>
          <a:xfrm>
            <a:off x="4508095" y="5830732"/>
            <a:ext cx="7064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∈  EPG (</a:t>
            </a:r>
            <a:r>
              <a:rPr lang="fr-FR" dirty="0" err="1"/>
              <a:t>Ellipsoid</a:t>
            </a:r>
            <a:r>
              <a:rPr lang="fr-FR" dirty="0"/>
              <a:t> body-</a:t>
            </a:r>
            <a:r>
              <a:rPr lang="fr-FR" dirty="0" err="1"/>
              <a:t>Protocerebral</a:t>
            </a:r>
            <a:r>
              <a:rPr lang="fr-FR" dirty="0"/>
              <a:t> bridge-Gall </a:t>
            </a:r>
            <a:r>
              <a:rPr lang="fr-FR" dirty="0" err="1"/>
              <a:t>neurons</a:t>
            </a:r>
            <a:r>
              <a:rPr lang="fr-FR" dirty="0"/>
              <a:t>)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A955707E-2B72-7CF3-1C69-970456351085}"/>
              </a:ext>
            </a:extLst>
          </p:cNvPr>
          <p:cNvSpPr/>
          <p:nvPr/>
        </p:nvSpPr>
        <p:spPr>
          <a:xfrm>
            <a:off x="4224961" y="6186185"/>
            <a:ext cx="281836" cy="294362"/>
          </a:xfrm>
          <a:prstGeom prst="ellipse">
            <a:avLst/>
          </a:prstGeom>
          <a:solidFill>
            <a:schemeClr val="accent5"/>
          </a:solidFill>
          <a:ln w="57150"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5E750D9D-E91F-5B60-CD65-C4E96F287410}"/>
              </a:ext>
            </a:extLst>
          </p:cNvPr>
          <p:cNvSpPr txBox="1"/>
          <p:nvPr/>
        </p:nvSpPr>
        <p:spPr>
          <a:xfrm>
            <a:off x="4508095" y="6185819"/>
            <a:ext cx="7064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∈  PEN Left (</a:t>
            </a:r>
            <a:r>
              <a:rPr lang="fr-FR" dirty="0" err="1"/>
              <a:t>Protocerebral</a:t>
            </a:r>
            <a:r>
              <a:rPr lang="fr-FR" dirty="0"/>
              <a:t> Bridge-</a:t>
            </a:r>
            <a:r>
              <a:rPr lang="fr-FR" dirty="0" err="1"/>
              <a:t>Ellipsoid</a:t>
            </a:r>
            <a:r>
              <a:rPr lang="fr-FR" dirty="0"/>
              <a:t> Body-</a:t>
            </a:r>
            <a:r>
              <a:rPr lang="fr-FR" dirty="0" err="1"/>
              <a:t>Noduli</a:t>
            </a:r>
            <a:r>
              <a:rPr lang="fr-FR" dirty="0"/>
              <a:t>)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A6D2703C-828E-85CC-569F-D6D735F36D55}"/>
              </a:ext>
            </a:extLst>
          </p:cNvPr>
          <p:cNvSpPr/>
          <p:nvPr/>
        </p:nvSpPr>
        <p:spPr>
          <a:xfrm>
            <a:off x="4241692" y="6555835"/>
            <a:ext cx="281836" cy="294362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DB818AC4-DDC3-0E33-FABD-85B00F2DE9AC}"/>
              </a:ext>
            </a:extLst>
          </p:cNvPr>
          <p:cNvSpPr txBox="1"/>
          <p:nvPr/>
        </p:nvSpPr>
        <p:spPr>
          <a:xfrm>
            <a:off x="4523528" y="6531212"/>
            <a:ext cx="7064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∈  PEN Right </a:t>
            </a:r>
            <a:endParaRPr lang="fr-FR" dirty="0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16700061-50A5-4975-C687-447E8BDA9E37}"/>
              </a:ext>
            </a:extLst>
          </p:cNvPr>
          <p:cNvSpPr/>
          <p:nvPr/>
        </p:nvSpPr>
        <p:spPr>
          <a:xfrm>
            <a:off x="10711318" y="1789739"/>
            <a:ext cx="281836" cy="294362"/>
          </a:xfrm>
          <a:prstGeom prst="ellipse">
            <a:avLst/>
          </a:prstGeom>
          <a:solidFill>
            <a:schemeClr val="tx2"/>
          </a:solidFill>
          <a:ln w="57150"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657E6D1B-FE77-8A5B-E300-0E9D39F56AAB}"/>
              </a:ext>
            </a:extLst>
          </p:cNvPr>
          <p:cNvSpPr/>
          <p:nvPr/>
        </p:nvSpPr>
        <p:spPr>
          <a:xfrm>
            <a:off x="8215226" y="1662402"/>
            <a:ext cx="281836" cy="294362"/>
          </a:xfrm>
          <a:prstGeom prst="ellipse">
            <a:avLst/>
          </a:prstGeom>
          <a:solidFill>
            <a:schemeClr val="accent5"/>
          </a:solidFill>
          <a:ln w="57150"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DAC951AF-100F-BAE0-5B3E-BE067FE0BD84}"/>
              </a:ext>
            </a:extLst>
          </p:cNvPr>
          <p:cNvCxnSpPr>
            <a:cxnSpLocks/>
          </p:cNvCxnSpPr>
          <p:nvPr/>
        </p:nvCxnSpPr>
        <p:spPr>
          <a:xfrm flipH="1">
            <a:off x="9070845" y="2639016"/>
            <a:ext cx="628262" cy="4389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F9FF1F41-A30E-6229-47D1-B1A1945A4317}"/>
              </a:ext>
            </a:extLst>
          </p:cNvPr>
          <p:cNvCxnSpPr>
            <a:cxnSpLocks/>
            <a:stCxn id="38" idx="2"/>
            <a:endCxn id="53" idx="5"/>
          </p:cNvCxnSpPr>
          <p:nvPr/>
        </p:nvCxnSpPr>
        <p:spPr>
          <a:xfrm flipH="1" flipV="1">
            <a:off x="8455788" y="1913656"/>
            <a:ext cx="1219671" cy="6914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A5891D7-314A-34C6-AAE4-E0EDABF48FB2}"/>
              </a:ext>
            </a:extLst>
          </p:cNvPr>
          <p:cNvCxnSpPr>
            <a:cxnSpLocks/>
            <a:stCxn id="38" idx="6"/>
          </p:cNvCxnSpPr>
          <p:nvPr/>
        </p:nvCxnSpPr>
        <p:spPr>
          <a:xfrm>
            <a:off x="9957295" y="2605126"/>
            <a:ext cx="625691" cy="5526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29DB3133-E0DA-2CD1-DE89-DA3F5DA10C8A}"/>
              </a:ext>
            </a:extLst>
          </p:cNvPr>
          <p:cNvCxnSpPr>
            <a:cxnSpLocks/>
          </p:cNvCxnSpPr>
          <p:nvPr/>
        </p:nvCxnSpPr>
        <p:spPr>
          <a:xfrm flipV="1">
            <a:off x="10414539" y="3380635"/>
            <a:ext cx="240680" cy="919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0B3C888C-6906-93C2-3E0A-06E1E07EFE9A}"/>
              </a:ext>
            </a:extLst>
          </p:cNvPr>
          <p:cNvCxnSpPr>
            <a:cxnSpLocks/>
            <a:stCxn id="40" idx="2"/>
          </p:cNvCxnSpPr>
          <p:nvPr/>
        </p:nvCxnSpPr>
        <p:spPr>
          <a:xfrm flipH="1">
            <a:off x="9365917" y="4389237"/>
            <a:ext cx="880142" cy="181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23741746-5B4A-9BC9-8A0D-D80EDD6CDFBA}"/>
              </a:ext>
            </a:extLst>
          </p:cNvPr>
          <p:cNvCxnSpPr>
            <a:cxnSpLocks/>
            <a:stCxn id="37" idx="4"/>
            <a:endCxn id="41" idx="0"/>
          </p:cNvCxnSpPr>
          <p:nvPr/>
        </p:nvCxnSpPr>
        <p:spPr>
          <a:xfrm>
            <a:off x="9003742" y="3366301"/>
            <a:ext cx="221257" cy="9120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6A148E7F-84AF-3BD2-D60A-2F3E60E36798}"/>
              </a:ext>
            </a:extLst>
          </p:cNvPr>
          <p:cNvCxnSpPr>
            <a:cxnSpLocks/>
            <a:stCxn id="39" idx="0"/>
            <a:endCxn id="51" idx="4"/>
          </p:cNvCxnSpPr>
          <p:nvPr/>
        </p:nvCxnSpPr>
        <p:spPr>
          <a:xfrm flipV="1">
            <a:off x="10682748" y="2084101"/>
            <a:ext cx="169488" cy="10157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99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2698418-180B-1065-B83C-DB1C1D1F1006}"/>
              </a:ext>
            </a:extLst>
          </p:cNvPr>
          <p:cNvSpPr txBox="1"/>
          <p:nvPr/>
        </p:nvSpPr>
        <p:spPr>
          <a:xfrm>
            <a:off x="-1960390" y="158269"/>
            <a:ext cx="83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haroni" panose="020F0502020204030204" pitchFamily="2" charset="-79"/>
                <a:cs typeface="Aharoni" panose="020F0502020204030204" pitchFamily="2" charset="-79"/>
              </a:rPr>
              <a:t>4- </a:t>
            </a:r>
            <a:r>
              <a:rPr lang="fr-FR" sz="2400" dirty="0"/>
              <a:t>Emergence of structure</a:t>
            </a:r>
            <a:endParaRPr lang="fr-FR" sz="24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34" name="Image 33" descr="The image depicts a complex network resembling the brain's neuronal connections of a Drosophila, initially perceived as disorganized and chaotic.&#10;&#10;Le contenu généré par l’IA peut être incorrect.">
            <a:extLst>
              <a:ext uri="{FF2B5EF4-FFF2-40B4-BE49-F238E27FC236}">
                <a16:creationId xmlns:a16="http://schemas.microsoft.com/office/drawing/2014/main" id="{714C5718-F5D4-CE3A-294F-09C170C72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30" y="1126449"/>
            <a:ext cx="4627783" cy="3725407"/>
          </a:xfrm>
          <a:prstGeom prst="rect">
            <a:avLst/>
          </a:prstGeom>
        </p:spPr>
      </p:pic>
      <p:sp>
        <p:nvSpPr>
          <p:cNvPr id="35" name="Flèche : droite 34">
            <a:extLst>
              <a:ext uri="{FF2B5EF4-FFF2-40B4-BE49-F238E27FC236}">
                <a16:creationId xmlns:a16="http://schemas.microsoft.com/office/drawing/2014/main" id="{80B129C7-B5BA-B850-E68D-F068CEEE8AD5}"/>
              </a:ext>
            </a:extLst>
          </p:cNvPr>
          <p:cNvSpPr/>
          <p:nvPr/>
        </p:nvSpPr>
        <p:spPr>
          <a:xfrm>
            <a:off x="5050146" y="2752719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5007CBF-529C-6A36-DE99-FECC4205CDC8}"/>
              </a:ext>
            </a:extLst>
          </p:cNvPr>
          <p:cNvSpPr txBox="1"/>
          <p:nvPr/>
        </p:nvSpPr>
        <p:spPr>
          <a:xfrm>
            <a:off x="2109439" y="6103524"/>
            <a:ext cx="7077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 circular organization for EPG–EPG connections, and a systematic offset for EPG–PEN connections.</a:t>
            </a:r>
            <a:endParaRPr lang="fr-FR" dirty="0"/>
          </a:p>
        </p:txBody>
      </p:sp>
      <p:pic>
        <p:nvPicPr>
          <p:cNvPr id="39" name="Image 38" descr="The image illustrates a 3D reconstruction of neuron subsets in the Drosophila central complex, highlighting their organization based on an underlying variable, with a focus on the connectivity between EPG and PEN neurons.&#10;&#10;Le contenu généré par l’IA peut être incorrect.">
            <a:extLst>
              <a:ext uri="{FF2B5EF4-FFF2-40B4-BE49-F238E27FC236}">
                <a16:creationId xmlns:a16="http://schemas.microsoft.com/office/drawing/2014/main" id="{E19BD001-1ABA-8FAB-FABD-AC1867388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943" y="5064325"/>
            <a:ext cx="6846552" cy="826730"/>
          </a:xfrm>
          <a:prstGeom prst="rect">
            <a:avLst/>
          </a:prstGeom>
        </p:spPr>
      </p:pic>
      <p:pic>
        <p:nvPicPr>
          <p:cNvPr id="42" name="Image 41" descr="The image shows a comparison of PEN (P element) and EPG (ERV1 element) genetic structures, with each side illustrating their respective gene sequences and associated genetic markers.&#10;&#10;Le contenu généré par l’IA peut être incorrect.">
            <a:extLst>
              <a:ext uri="{FF2B5EF4-FFF2-40B4-BE49-F238E27FC236}">
                <a16:creationId xmlns:a16="http://schemas.microsoft.com/office/drawing/2014/main" id="{DB5DBFEA-8D7E-65FD-634E-8E96C5BC0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11"/>
          <a:stretch>
            <a:fillRect/>
          </a:stretch>
        </p:blipFill>
        <p:spPr>
          <a:xfrm>
            <a:off x="5648092" y="617384"/>
            <a:ext cx="2843266" cy="4330923"/>
          </a:xfrm>
          <a:prstGeom prst="rect">
            <a:avLst/>
          </a:prstGeom>
        </p:spPr>
      </p:pic>
      <p:pic>
        <p:nvPicPr>
          <p:cNvPr id="43" name="Image 42" descr="The image shows a comparison of PEN (P element) and EPG (ERV1 element) genetic structures, with each side illustrating their respective gene sequences and associated genetic markers.&#10;&#10;Le contenu généré par l’IA peut être incorrect.">
            <a:extLst>
              <a:ext uri="{FF2B5EF4-FFF2-40B4-BE49-F238E27FC236}">
                <a16:creationId xmlns:a16="http://schemas.microsoft.com/office/drawing/2014/main" id="{B7CA912C-8281-083F-6D7C-7380A4C7D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76" t="55020"/>
          <a:stretch>
            <a:fillRect/>
          </a:stretch>
        </p:blipFill>
        <p:spPr>
          <a:xfrm>
            <a:off x="8723668" y="1966605"/>
            <a:ext cx="3208902" cy="203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5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E99B-A71A-41FE-B19D-0A523EA1E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5B0361D-034C-0035-4B6F-58E2CC6D406D}"/>
              </a:ext>
            </a:extLst>
          </p:cNvPr>
          <p:cNvSpPr txBox="1"/>
          <p:nvPr/>
        </p:nvSpPr>
        <p:spPr>
          <a:xfrm>
            <a:off x="263047" y="200416"/>
            <a:ext cx="8780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haroni" panose="020F0502020204030204" pitchFamily="2" charset="-79"/>
                <a:cs typeface="Aharoni" panose="020F0502020204030204" pitchFamily="2" charset="-79"/>
              </a:rPr>
              <a:t>5- The organization of the central complex compass system in a Drosophila.</a:t>
            </a:r>
            <a:endParaRPr lang="fr-FR" sz="24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CDA2017-1788-EA28-B25F-CA11E350CBE6}"/>
              </a:ext>
            </a:extLst>
          </p:cNvPr>
          <p:cNvSpPr txBox="1"/>
          <p:nvPr/>
        </p:nvSpPr>
        <p:spPr>
          <a:xfrm>
            <a:off x="379428" y="1175696"/>
            <a:ext cx="111495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organization contributes to the understanding of how the Drosophila compass system works</a:t>
            </a:r>
          </a:p>
          <a:p>
            <a:endParaRPr lang="en-US" dirty="0"/>
          </a:p>
          <a:p>
            <a:r>
              <a:rPr lang="en-US" b="1" dirty="0"/>
              <a:t>A simple analogy for its functioning is that of an incremental sensor:</a:t>
            </a:r>
            <a:endParaRPr lang="en-US" dirty="0"/>
          </a:p>
          <a:p>
            <a:r>
              <a:rPr lang="en-US" b="1" dirty="0"/>
              <a:t>EPG neurons</a:t>
            </a:r>
            <a:r>
              <a:rPr lang="en-US" dirty="0"/>
              <a:t>: act as a memory that stores head orientation in the form of a circular map (or disk) </a:t>
            </a:r>
          </a:p>
          <a:p>
            <a:r>
              <a:rPr lang="en-US" b="1" dirty="0"/>
              <a:t>Right and left PEN neurons</a:t>
            </a:r>
            <a:r>
              <a:rPr lang="en-US" dirty="0"/>
              <a:t>: update this representation by incrementing or decrementing the stored orientation depending on the direction of head rotation</a:t>
            </a:r>
            <a:endParaRPr lang="fr-FR" dirty="0"/>
          </a:p>
        </p:txBody>
      </p:sp>
      <p:pic>
        <p:nvPicPr>
          <p:cNvPr id="21" name="Image 20" descr="The image shows a comparison of PEN (P element) and EPG (ERV1 element) genetic structures, with each side illustrating their respective gene sequences and associated genetic markers.&#10;&#10;Le contenu généré par l’IA peut être incorrect.">
            <a:extLst>
              <a:ext uri="{FF2B5EF4-FFF2-40B4-BE49-F238E27FC236}">
                <a16:creationId xmlns:a16="http://schemas.microsoft.com/office/drawing/2014/main" id="{BF49DDAC-DF03-8174-FF8C-C3C751C81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76" t="55020"/>
          <a:stretch>
            <a:fillRect/>
          </a:stretch>
        </p:blipFill>
        <p:spPr>
          <a:xfrm>
            <a:off x="334199" y="3489781"/>
            <a:ext cx="3530205" cy="2244027"/>
          </a:xfrm>
          <a:prstGeom prst="rect">
            <a:avLst/>
          </a:prstGeom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0FA483FA-51F8-F84F-CBAC-BE248C0EFEE2}"/>
              </a:ext>
            </a:extLst>
          </p:cNvPr>
          <p:cNvSpPr/>
          <p:nvPr/>
        </p:nvSpPr>
        <p:spPr>
          <a:xfrm>
            <a:off x="5661973" y="3723180"/>
            <a:ext cx="292231" cy="2908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4F3457F7-896E-F3DF-9D84-E5268344907F}"/>
              </a:ext>
            </a:extLst>
          </p:cNvPr>
          <p:cNvSpPr/>
          <p:nvPr/>
        </p:nvSpPr>
        <p:spPr>
          <a:xfrm>
            <a:off x="6565508" y="4777999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F4BB68E7-9C7D-BBF4-D934-DCD0BCD89930}"/>
              </a:ext>
            </a:extLst>
          </p:cNvPr>
          <p:cNvSpPr/>
          <p:nvPr/>
        </p:nvSpPr>
        <p:spPr>
          <a:xfrm>
            <a:off x="4667362" y="4774183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3863271C-14EF-D046-F3E5-FD102B76901E}"/>
              </a:ext>
            </a:extLst>
          </p:cNvPr>
          <p:cNvSpPr/>
          <p:nvPr/>
        </p:nvSpPr>
        <p:spPr>
          <a:xfrm>
            <a:off x="6419392" y="4157653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C22285BA-22F6-AFB5-11CE-536C62DDF6C1}"/>
              </a:ext>
            </a:extLst>
          </p:cNvPr>
          <p:cNvSpPr/>
          <p:nvPr/>
        </p:nvSpPr>
        <p:spPr>
          <a:xfrm>
            <a:off x="4922725" y="4106012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58D868DA-176F-9D9E-2F5B-D651C91CE709}"/>
              </a:ext>
            </a:extLst>
          </p:cNvPr>
          <p:cNvSpPr/>
          <p:nvPr/>
        </p:nvSpPr>
        <p:spPr>
          <a:xfrm>
            <a:off x="5019379" y="5342818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FC671DF0-B845-DF17-85CD-95602F62EBE3}"/>
              </a:ext>
            </a:extLst>
          </p:cNvPr>
          <p:cNvSpPr/>
          <p:nvPr/>
        </p:nvSpPr>
        <p:spPr>
          <a:xfrm>
            <a:off x="6273277" y="5388862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755DB5D-3613-546D-6E58-AEF5A5D03032}"/>
              </a:ext>
            </a:extLst>
          </p:cNvPr>
          <p:cNvSpPr/>
          <p:nvPr/>
        </p:nvSpPr>
        <p:spPr>
          <a:xfrm>
            <a:off x="5689068" y="5739641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Triangle isocèle 40">
            <a:extLst>
              <a:ext uri="{FF2B5EF4-FFF2-40B4-BE49-F238E27FC236}">
                <a16:creationId xmlns:a16="http://schemas.microsoft.com/office/drawing/2014/main" id="{5E07D9A4-7A63-6C86-6D02-A1E1E67FED6E}"/>
              </a:ext>
            </a:extLst>
          </p:cNvPr>
          <p:cNvSpPr/>
          <p:nvPr/>
        </p:nvSpPr>
        <p:spPr>
          <a:xfrm>
            <a:off x="5595985" y="2839286"/>
            <a:ext cx="424206" cy="45248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droite 41">
            <a:extLst>
              <a:ext uri="{FF2B5EF4-FFF2-40B4-BE49-F238E27FC236}">
                <a16:creationId xmlns:a16="http://schemas.microsoft.com/office/drawing/2014/main" id="{C4C7ACA7-FA60-FCD1-60BA-5D8F31E347A3}"/>
              </a:ext>
            </a:extLst>
          </p:cNvPr>
          <p:cNvSpPr/>
          <p:nvPr/>
        </p:nvSpPr>
        <p:spPr>
          <a:xfrm>
            <a:off x="7719991" y="4703646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riangle isocèle 42">
            <a:extLst>
              <a:ext uri="{FF2B5EF4-FFF2-40B4-BE49-F238E27FC236}">
                <a16:creationId xmlns:a16="http://schemas.microsoft.com/office/drawing/2014/main" id="{F46F7B24-4A64-802B-22CB-B258C6BCC0D3}"/>
              </a:ext>
            </a:extLst>
          </p:cNvPr>
          <p:cNvSpPr/>
          <p:nvPr/>
        </p:nvSpPr>
        <p:spPr>
          <a:xfrm rot="2742973">
            <a:off x="9825630" y="2805314"/>
            <a:ext cx="424206" cy="45248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BE56C98-6798-222F-B08E-B786A016A21F}"/>
              </a:ext>
            </a:extLst>
          </p:cNvPr>
          <p:cNvSpPr/>
          <p:nvPr/>
        </p:nvSpPr>
        <p:spPr>
          <a:xfrm>
            <a:off x="9745502" y="3752711"/>
            <a:ext cx="292231" cy="29084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3D538C1D-712E-77A7-C80D-3D7C8A0083C5}"/>
              </a:ext>
            </a:extLst>
          </p:cNvPr>
          <p:cNvSpPr/>
          <p:nvPr/>
        </p:nvSpPr>
        <p:spPr>
          <a:xfrm>
            <a:off x="10649037" y="4807530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9AF265C0-E2CA-D670-C56E-8EF3A380D8C5}"/>
              </a:ext>
            </a:extLst>
          </p:cNvPr>
          <p:cNvSpPr/>
          <p:nvPr/>
        </p:nvSpPr>
        <p:spPr>
          <a:xfrm>
            <a:off x="8750891" y="4803714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7282A54E-F402-4045-009F-1D974758CF9A}"/>
              </a:ext>
            </a:extLst>
          </p:cNvPr>
          <p:cNvSpPr/>
          <p:nvPr/>
        </p:nvSpPr>
        <p:spPr>
          <a:xfrm>
            <a:off x="10502921" y="4187184"/>
            <a:ext cx="292231" cy="2908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FF968927-8842-A8D2-C5A4-1955A8DD8C37}"/>
              </a:ext>
            </a:extLst>
          </p:cNvPr>
          <p:cNvSpPr/>
          <p:nvPr/>
        </p:nvSpPr>
        <p:spPr>
          <a:xfrm>
            <a:off x="9006254" y="4135543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D79649DB-9181-37BE-665E-2561AF06AC52}"/>
              </a:ext>
            </a:extLst>
          </p:cNvPr>
          <p:cNvSpPr/>
          <p:nvPr/>
        </p:nvSpPr>
        <p:spPr>
          <a:xfrm>
            <a:off x="9102908" y="5372349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5ED01081-3829-B65E-9DB0-7A3BCCC5D91A}"/>
              </a:ext>
            </a:extLst>
          </p:cNvPr>
          <p:cNvSpPr/>
          <p:nvPr/>
        </p:nvSpPr>
        <p:spPr>
          <a:xfrm>
            <a:off x="10356806" y="5418393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9CBBB705-CB0E-5303-4028-77F7750A59F3}"/>
              </a:ext>
            </a:extLst>
          </p:cNvPr>
          <p:cNvSpPr/>
          <p:nvPr/>
        </p:nvSpPr>
        <p:spPr>
          <a:xfrm>
            <a:off x="9772597" y="5769172"/>
            <a:ext cx="292231" cy="290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2B942C67-6CFF-FEDB-90A2-32D2890D31C6}"/>
              </a:ext>
            </a:extLst>
          </p:cNvPr>
          <p:cNvSpPr txBox="1"/>
          <p:nvPr/>
        </p:nvSpPr>
        <p:spPr>
          <a:xfrm>
            <a:off x="5523123" y="4729443"/>
            <a:ext cx="105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EPG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C4299FEA-6DDA-A028-4A3B-0294BC7F8290}"/>
              </a:ext>
            </a:extLst>
          </p:cNvPr>
          <p:cNvSpPr txBox="1"/>
          <p:nvPr/>
        </p:nvSpPr>
        <p:spPr>
          <a:xfrm>
            <a:off x="9547469" y="4685936"/>
            <a:ext cx="105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EPG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021B4B72-1012-1633-25A2-7B8A9C92F245}"/>
              </a:ext>
            </a:extLst>
          </p:cNvPr>
          <p:cNvSpPr txBox="1"/>
          <p:nvPr/>
        </p:nvSpPr>
        <p:spPr>
          <a:xfrm>
            <a:off x="6052283" y="2773897"/>
            <a:ext cx="172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Drosophilia’s</a:t>
            </a:r>
            <a:r>
              <a:rPr lang="fr-FR" dirty="0"/>
              <a:t> </a:t>
            </a:r>
            <a:r>
              <a:rPr lang="fr-FR" dirty="0" err="1"/>
              <a:t>head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12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65B4-CC29-3CF3-E938-054CE3687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10AB33A-F6FE-BEAC-0B32-024F4BD274C1}"/>
              </a:ext>
            </a:extLst>
          </p:cNvPr>
          <p:cNvSpPr txBox="1"/>
          <p:nvPr/>
        </p:nvSpPr>
        <p:spPr>
          <a:xfrm>
            <a:off x="263047" y="171939"/>
            <a:ext cx="8780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 — Symmetry</a:t>
            </a:r>
            <a:endParaRPr lang="en-US" sz="2400" dirty="0"/>
          </a:p>
        </p:txBody>
      </p:sp>
      <p:pic>
        <p:nvPicPr>
          <p:cNvPr id="21" name="Image 20" descr="The image shows a comparison of PEN (P element) and EPG (ERV1 element) genetic structures, with each side illustrating their respective gene sequences and associated genetic markers.&#10;&#10;Le contenu généré par l’IA peut être incorrect.">
            <a:extLst>
              <a:ext uri="{FF2B5EF4-FFF2-40B4-BE49-F238E27FC236}">
                <a16:creationId xmlns:a16="http://schemas.microsoft.com/office/drawing/2014/main" id="{837C4488-FCE8-C54E-CBCF-272ED5C5A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76" t="55020"/>
          <a:stretch>
            <a:fillRect/>
          </a:stretch>
        </p:blipFill>
        <p:spPr>
          <a:xfrm>
            <a:off x="833818" y="3066028"/>
            <a:ext cx="4564657" cy="2901592"/>
          </a:xfrm>
          <a:prstGeom prst="rect">
            <a:avLst/>
          </a:prstGeom>
        </p:spPr>
      </p:pic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ED22E2C2-5998-E4D4-6BFC-91414726AD54}"/>
              </a:ext>
            </a:extLst>
          </p:cNvPr>
          <p:cNvSpPr/>
          <p:nvPr/>
        </p:nvSpPr>
        <p:spPr>
          <a:xfrm>
            <a:off x="5435334" y="4336135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The diagram illustrates a series of gene crossovers between PEN and EPG, depicting gene recombination events.&#10;&#10;Le contenu généré par l’IA peut être incorrect.">
            <a:extLst>
              <a:ext uri="{FF2B5EF4-FFF2-40B4-BE49-F238E27FC236}">
                <a16:creationId xmlns:a16="http://schemas.microsoft.com/office/drawing/2014/main" id="{5B12A98C-2977-A9F9-66B4-1D0E950A3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3" t="-1616" r="3903" b="55134"/>
          <a:stretch>
            <a:fillRect/>
          </a:stretch>
        </p:blipFill>
        <p:spPr>
          <a:xfrm>
            <a:off x="6633271" y="2862356"/>
            <a:ext cx="4466274" cy="290159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F2BC343-D6AC-66D1-60B4-DFA7C960D9B3}"/>
              </a:ext>
            </a:extLst>
          </p:cNvPr>
          <p:cNvSpPr txBox="1"/>
          <p:nvPr/>
        </p:nvSpPr>
        <p:spPr>
          <a:xfrm>
            <a:off x="426563" y="699438"/>
            <a:ext cx="90850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observe that this structure is invariant under a shift of the angle θ:</a:t>
            </a:r>
            <a:br>
              <a:rPr lang="en-US" dirty="0"/>
            </a:br>
            <a:r>
              <a:rPr lang="en-US" dirty="0"/>
              <a:t>if all neurons are </a:t>
            </a:r>
            <a:r>
              <a:rPr lang="en-US" b="1" dirty="0"/>
              <a:t>shifted</a:t>
            </a:r>
            <a:r>
              <a:rPr lang="en-US" dirty="0"/>
              <a:t> according to their preferred orientation, the connectivity patterns remain unchanged.</a:t>
            </a:r>
            <a:endParaRPr lang="fr-FR" dirty="0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48D602C3-A80F-D070-B812-6B631142F72C}"/>
              </a:ext>
            </a:extLst>
          </p:cNvPr>
          <p:cNvSpPr/>
          <p:nvPr/>
        </p:nvSpPr>
        <p:spPr>
          <a:xfrm>
            <a:off x="5283323" y="1846946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D838C78-4096-58CE-9FB3-BF2A35F19712}"/>
              </a:ext>
            </a:extLst>
          </p:cNvPr>
          <p:cNvSpPr/>
          <p:nvPr/>
        </p:nvSpPr>
        <p:spPr>
          <a:xfrm>
            <a:off x="4761865" y="1883828"/>
            <a:ext cx="281836" cy="29436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30B73DF-6CB6-7503-DAF0-1A157B303B38}"/>
              </a:ext>
            </a:extLst>
          </p:cNvPr>
          <p:cNvSpPr/>
          <p:nvPr/>
        </p:nvSpPr>
        <p:spPr>
          <a:xfrm>
            <a:off x="6211876" y="1857126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FD1266E-8C98-369B-F0D3-13EC5C3D73AB}"/>
              </a:ext>
            </a:extLst>
          </p:cNvPr>
          <p:cNvSpPr txBox="1"/>
          <p:nvPr/>
        </p:nvSpPr>
        <p:spPr>
          <a:xfrm>
            <a:off x="4733570" y="1329758"/>
            <a:ext cx="908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Take the place of </a:t>
            </a:r>
            <a:endParaRPr lang="fr-FR" dirty="0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94A8C772-F396-D1E4-A8EC-7F2575C32504}"/>
              </a:ext>
            </a:extLst>
          </p:cNvPr>
          <p:cNvSpPr/>
          <p:nvPr/>
        </p:nvSpPr>
        <p:spPr>
          <a:xfrm>
            <a:off x="5283322" y="2366839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C343454-2538-DAFC-19BE-7D447526E72C}"/>
              </a:ext>
            </a:extLst>
          </p:cNvPr>
          <p:cNvSpPr/>
          <p:nvPr/>
        </p:nvSpPr>
        <p:spPr>
          <a:xfrm>
            <a:off x="4761865" y="2376429"/>
            <a:ext cx="281836" cy="29436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28E5CB6-C6FC-00AE-A436-74117F583814}"/>
              </a:ext>
            </a:extLst>
          </p:cNvPr>
          <p:cNvSpPr/>
          <p:nvPr/>
        </p:nvSpPr>
        <p:spPr>
          <a:xfrm>
            <a:off x="6219381" y="2350280"/>
            <a:ext cx="292231" cy="2908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DE41A08-597E-B140-43AF-79DAE22ED257}"/>
              </a:ext>
            </a:extLst>
          </p:cNvPr>
          <p:cNvSpPr txBox="1"/>
          <p:nvPr/>
        </p:nvSpPr>
        <p:spPr>
          <a:xfrm>
            <a:off x="2579265" y="2823936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…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06700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C5FEE1F-2975-19C9-43D5-4C6E0DBAF38A}"/>
              </a:ext>
            </a:extLst>
          </p:cNvPr>
          <p:cNvSpPr txBox="1"/>
          <p:nvPr/>
        </p:nvSpPr>
        <p:spPr>
          <a:xfrm>
            <a:off x="263047" y="171939"/>
            <a:ext cx="8780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Slide 7 — Matrix </a:t>
            </a:r>
            <a:r>
              <a:rPr lang="fr-FR" sz="2400" dirty="0" err="1"/>
              <a:t>representation</a:t>
            </a:r>
            <a:endParaRPr lang="en-US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D38E9C6-0C5F-C0B2-C194-367AA36D0793}"/>
              </a:ext>
            </a:extLst>
          </p:cNvPr>
          <p:cNvSpPr txBox="1"/>
          <p:nvPr/>
        </p:nvSpPr>
        <p:spPr>
          <a:xfrm>
            <a:off x="897903" y="633604"/>
            <a:ext cx="85100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 now look at the adjacency matrix: by organizing neurons first by type and then by increasing preferred orientation, we obtain…</a:t>
            </a:r>
            <a:endParaRPr lang="fr-FR" dirty="0"/>
          </a:p>
        </p:txBody>
      </p:sp>
      <p:pic>
        <p:nvPicPr>
          <p:cNvPr id="8" name="Image 7" descr="The image displays a visual representation of an unsorted connectivity pattern, indicating a range of synapse counts from -10 to 100.&#10;&#10;Le contenu généré par l’IA peut être incorrect.">
            <a:extLst>
              <a:ext uri="{FF2B5EF4-FFF2-40B4-BE49-F238E27FC236}">
                <a16:creationId xmlns:a16="http://schemas.microsoft.com/office/drawing/2014/main" id="{E714552E-BC5F-2222-2F64-DCB48A171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81" y="1143298"/>
            <a:ext cx="2711589" cy="2540131"/>
          </a:xfrm>
          <a:prstGeom prst="rect">
            <a:avLst/>
          </a:prstGeom>
        </p:spPr>
      </p:pic>
      <p:pic>
        <p:nvPicPr>
          <p:cNvPr id="9" name="Image 8" descr="The image depicts a complex network resembling the brain's neuronal connections of a Drosophila, initially perceived as disorganized and chaotic.&#10;&#10;Le contenu généré par l’IA peut être incorrect.">
            <a:extLst>
              <a:ext uri="{FF2B5EF4-FFF2-40B4-BE49-F238E27FC236}">
                <a16:creationId xmlns:a16="http://schemas.microsoft.com/office/drawing/2014/main" id="{3F803550-F955-CE21-74B5-11985E69F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55" y="3908169"/>
            <a:ext cx="3082352" cy="2481321"/>
          </a:xfrm>
          <a:prstGeom prst="rect">
            <a:avLst/>
          </a:prstGeom>
        </p:spPr>
      </p:pic>
      <p:pic>
        <p:nvPicPr>
          <p:cNvPr id="14" name="Image 13" descr="The image depicts a type-sorted connectivity diagram, showing relationships between different elements like F, EPG, PEN, and their left and right counterparts.&#10;&#10;Le contenu généré par l’IA peut être incorrect.">
            <a:extLst>
              <a:ext uri="{FF2B5EF4-FFF2-40B4-BE49-F238E27FC236}">
                <a16:creationId xmlns:a16="http://schemas.microsoft.com/office/drawing/2014/main" id="{DEE88834-CF87-A258-5663-9082B1BAA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005" y="2427764"/>
            <a:ext cx="2513803" cy="2599433"/>
          </a:xfrm>
          <a:prstGeom prst="rect">
            <a:avLst/>
          </a:prstGeom>
        </p:spPr>
      </p:pic>
      <p:pic>
        <p:nvPicPr>
          <p:cNvPr id="16" name="Image 15" descr="The diagram illustrates a comparison of connectivity patterns between EPG and PEN, showing full sorting in both directions.&#10;&#10;Le contenu généré par l’IA peut être incorrect.">
            <a:extLst>
              <a:ext uri="{FF2B5EF4-FFF2-40B4-BE49-F238E27FC236}">
                <a16:creationId xmlns:a16="http://schemas.microsoft.com/office/drawing/2014/main" id="{BE6F06FB-5AF8-F727-6CBD-B5581BE811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929" y="1329325"/>
            <a:ext cx="2686188" cy="2749691"/>
          </a:xfrm>
          <a:prstGeom prst="rect">
            <a:avLst/>
          </a:prstGeom>
        </p:spPr>
      </p:pic>
      <p:pic>
        <p:nvPicPr>
          <p:cNvPr id="17" name="Image 16" descr="The diagram illustrates a series of gene crossovers between PEN and EPG, depicting gene recombination events.&#10;&#10;Le contenu généré par l’IA peut être incorrect.">
            <a:extLst>
              <a:ext uri="{FF2B5EF4-FFF2-40B4-BE49-F238E27FC236}">
                <a16:creationId xmlns:a16="http://schemas.microsoft.com/office/drawing/2014/main" id="{22E91646-6EA7-713B-F34B-0DB1F46C6B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3" t="-1616" r="3903" b="55134"/>
          <a:stretch>
            <a:fillRect/>
          </a:stretch>
        </p:blipFill>
        <p:spPr>
          <a:xfrm>
            <a:off x="8845482" y="4107958"/>
            <a:ext cx="2781963" cy="1807350"/>
          </a:xfrm>
          <a:prstGeom prst="rect">
            <a:avLst/>
          </a:prstGeom>
        </p:spPr>
      </p:pic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A31E86A3-D56E-2BEF-0583-36D1A5AFE83B}"/>
              </a:ext>
            </a:extLst>
          </p:cNvPr>
          <p:cNvSpPr/>
          <p:nvPr/>
        </p:nvSpPr>
        <p:spPr>
          <a:xfrm>
            <a:off x="3952708" y="3546791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ACFE44D7-6057-F996-0830-4885017E40BC}"/>
              </a:ext>
            </a:extLst>
          </p:cNvPr>
          <p:cNvSpPr/>
          <p:nvPr/>
        </p:nvSpPr>
        <p:spPr>
          <a:xfrm>
            <a:off x="7977446" y="3443899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054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AF92D-6D95-FE8E-BDBB-14FC7EA4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5D36966-4AB3-C125-2C68-BAC8F1963294}"/>
              </a:ext>
            </a:extLst>
          </p:cNvPr>
          <p:cNvSpPr txBox="1"/>
          <p:nvPr/>
        </p:nvSpPr>
        <p:spPr>
          <a:xfrm>
            <a:off x="263047" y="134232"/>
            <a:ext cx="8780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Slide 8 — circulant Matrix</a:t>
            </a:r>
            <a:endParaRPr lang="en-US" sz="2400" dirty="0"/>
          </a:p>
        </p:txBody>
      </p:sp>
      <p:pic>
        <p:nvPicPr>
          <p:cNvPr id="16" name="Image 15" descr="The diagram illustrates a comparison of connectivity patterns between EPG and PEN, showing full sorting in both directions.&#10;&#10;Le contenu généré par l’IA peut être incorrect.">
            <a:extLst>
              <a:ext uri="{FF2B5EF4-FFF2-40B4-BE49-F238E27FC236}">
                <a16:creationId xmlns:a16="http://schemas.microsoft.com/office/drawing/2014/main" id="{42267E2D-69A8-B23F-989D-17E162F32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907" y="1491394"/>
            <a:ext cx="3459423" cy="3541206"/>
          </a:xfrm>
          <a:prstGeom prst="rect">
            <a:avLst/>
          </a:prstGeom>
        </p:spPr>
      </p:pic>
      <p:pic>
        <p:nvPicPr>
          <p:cNvPr id="3" name="Image 2" descr="The diagram illustrates two different configurations of the PEN and EPG gene families, each represented by a different color (blue and green) and arranged in a linear, branching pattern.&#10;&#10;Le contenu généré par l’IA peut être incorrect.">
            <a:extLst>
              <a:ext uri="{FF2B5EF4-FFF2-40B4-BE49-F238E27FC236}">
                <a16:creationId xmlns:a16="http://schemas.microsoft.com/office/drawing/2014/main" id="{E0E3A49D-AA79-15CF-FCFB-518453AE3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1" y="1884963"/>
            <a:ext cx="2679838" cy="3460928"/>
          </a:xfrm>
          <a:prstGeom prst="rect">
            <a:avLst/>
          </a:prstGeom>
        </p:spPr>
      </p:pic>
      <p:sp>
        <p:nvSpPr>
          <p:cNvPr id="5" name="Flèche : double flèche horizontale 4">
            <a:extLst>
              <a:ext uri="{FF2B5EF4-FFF2-40B4-BE49-F238E27FC236}">
                <a16:creationId xmlns:a16="http://schemas.microsoft.com/office/drawing/2014/main" id="{6F02D276-2115-E037-D463-8A2E4A6748A6}"/>
              </a:ext>
            </a:extLst>
          </p:cNvPr>
          <p:cNvSpPr/>
          <p:nvPr/>
        </p:nvSpPr>
        <p:spPr>
          <a:xfrm>
            <a:off x="4985057" y="3420073"/>
            <a:ext cx="1611983" cy="61274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7A27480-C74F-649D-0A08-CDF71CBA3D43}"/>
              </a:ext>
            </a:extLst>
          </p:cNvPr>
          <p:cNvSpPr txBox="1"/>
          <p:nvPr/>
        </p:nvSpPr>
        <p:spPr>
          <a:xfrm>
            <a:off x="4027580" y="1288721"/>
            <a:ext cx="38909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circular graph (i.e., invariant under shifts along a given variable) translates, at the matrix level, into an adjacency matrix that is invariant under permutation, specifically, it takes a (block-)circulant form.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5858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36B51DE-6F2C-36E8-30ED-B234E413AAB0}"/>
              </a:ext>
            </a:extLst>
          </p:cNvPr>
          <p:cNvSpPr txBox="1"/>
          <p:nvPr/>
        </p:nvSpPr>
        <p:spPr>
          <a:xfrm>
            <a:off x="263047" y="145205"/>
            <a:ext cx="8780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Slide 9  — </a:t>
            </a:r>
            <a:r>
              <a:rPr lang="en-US" sz="2400" b="1" dirty="0"/>
              <a:t>Interpretation and significance of identifying circulant matrices or symmetries in the connectome using latent variables.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810C2F6-193D-A39C-758A-EF0BFA26222D}"/>
              </a:ext>
            </a:extLst>
          </p:cNvPr>
          <p:cNvSpPr txBox="1"/>
          <p:nvPr/>
        </p:nvSpPr>
        <p:spPr>
          <a:xfrm>
            <a:off x="263046" y="1301106"/>
            <a:ext cx="8780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Only by exploiting symmetries, we were able to identify the variable encoded in this part of the connectome, namely head orientation.</a:t>
            </a:r>
            <a:endParaRPr lang="en-US" sz="2400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9CEC0FB-D899-5398-FC70-A854AF41E118}"/>
              </a:ext>
            </a:extLst>
          </p:cNvPr>
          <p:cNvSpPr txBox="1"/>
          <p:nvPr/>
        </p:nvSpPr>
        <p:spPr>
          <a:xfrm>
            <a:off x="263046" y="2424548"/>
            <a:ext cx="8780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 is therefore crucial to identify the variables that allow symmetries to emerge in the connectome. </a:t>
            </a:r>
            <a:endParaRPr lang="en-US" sz="2400" b="1" dirty="0"/>
          </a:p>
        </p:txBody>
      </p:sp>
      <p:pic>
        <p:nvPicPr>
          <p:cNvPr id="13" name="Image 12" descr="The image displays a visual representation of an unsorted connectivity pattern, indicating a range of synapse counts from -10 to 100.&#10;&#10;Le contenu généré par l’IA peut être incorrect.">
            <a:extLst>
              <a:ext uri="{FF2B5EF4-FFF2-40B4-BE49-F238E27FC236}">
                <a16:creationId xmlns:a16="http://schemas.microsoft.com/office/drawing/2014/main" id="{D4B658E0-E54F-316F-AB15-E5B0D8583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71" y="4365279"/>
            <a:ext cx="2324998" cy="2177984"/>
          </a:xfrm>
          <a:prstGeom prst="rect">
            <a:avLst/>
          </a:prstGeom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68BAB7B-9458-089A-145B-AC8CB3215941}"/>
              </a:ext>
            </a:extLst>
          </p:cNvPr>
          <p:cNvSpPr/>
          <p:nvPr/>
        </p:nvSpPr>
        <p:spPr>
          <a:xfrm>
            <a:off x="5560541" y="5751252"/>
            <a:ext cx="688931" cy="361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 descr="The diagram illustrates a comparison of connectivity patterns between EPG and PEN, showing full sorting in both directions.&#10;&#10;Le contenu généré par l’IA peut être incorrect.">
            <a:extLst>
              <a:ext uri="{FF2B5EF4-FFF2-40B4-BE49-F238E27FC236}">
                <a16:creationId xmlns:a16="http://schemas.microsoft.com/office/drawing/2014/main" id="{A9F455B8-F83B-A7FA-8FDC-613A92C31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875" y="4264289"/>
            <a:ext cx="2324999" cy="2379964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94CE019-D1EE-6B3F-9830-C099EBA2D19E}"/>
              </a:ext>
            </a:extLst>
          </p:cNvPr>
          <p:cNvSpPr txBox="1"/>
          <p:nvPr/>
        </p:nvSpPr>
        <p:spPr>
          <a:xfrm>
            <a:off x="3525126" y="4413186"/>
            <a:ext cx="54486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According to which variable should we sort?</a:t>
            </a:r>
            <a:endParaRPr lang="fr-FR" sz="3600" b="1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EC25D11-C9A4-19E8-4B3F-CD309B51735D}"/>
              </a:ext>
            </a:extLst>
          </p:cNvPr>
          <p:cNvSpPr txBox="1"/>
          <p:nvPr/>
        </p:nvSpPr>
        <p:spPr>
          <a:xfrm>
            <a:off x="263046" y="3266511"/>
            <a:ext cx="86703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/>
              <a:t>The intuition of using orientation preference came from biological studies, but how can we recover these latent variables and symmetries directly from the adjacency matrix alone?</a:t>
            </a:r>
          </a:p>
        </p:txBody>
      </p:sp>
    </p:spTree>
    <p:extLst>
      <p:ext uri="{BB962C8B-B14F-4D97-AF65-F5344CB8AC3E}">
        <p14:creationId xmlns:p14="http://schemas.microsoft.com/office/powerpoint/2010/main" val="2418834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EA23495-D968-F584-ED2F-B3344D7CD7C8}"/>
              </a:ext>
            </a:extLst>
          </p:cNvPr>
          <p:cNvSpPr txBox="1"/>
          <p:nvPr/>
        </p:nvSpPr>
        <p:spPr>
          <a:xfrm>
            <a:off x="225340" y="192339"/>
            <a:ext cx="8780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Slide 10  </a:t>
            </a:r>
            <a:r>
              <a:rPr lang="en-US" sz="2400" dirty="0"/>
              <a:t> Awareness of neuron type</a:t>
            </a:r>
            <a:endParaRPr lang="en-US" sz="2400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F4DF1A-0E4B-A57B-CE05-4BD86A92E26B}"/>
              </a:ext>
            </a:extLst>
          </p:cNvPr>
          <p:cNvSpPr txBox="1"/>
          <p:nvPr/>
        </p:nvSpPr>
        <p:spPr>
          <a:xfrm>
            <a:off x="407822" y="925644"/>
            <a:ext cx="84157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First, we need to remove the neuron type variable from the equation, as it can mask the latent variables that may reveal underlying symmetries.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245152E-7EA6-556E-F1A1-DB5742DB0869}"/>
              </a:ext>
            </a:extLst>
          </p:cNvPr>
          <p:cNvSpPr txBox="1"/>
          <p:nvPr/>
        </p:nvSpPr>
        <p:spPr>
          <a:xfrm>
            <a:off x="407822" y="1571975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model may be inclined to use it as an all-purpose explanatory factor!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E4DEECE-DE0D-9145-BCCB-6EE598490B06}"/>
              </a:ext>
            </a:extLst>
          </p:cNvPr>
          <p:cNvSpPr txBox="1"/>
          <p:nvPr/>
        </p:nvSpPr>
        <p:spPr>
          <a:xfrm>
            <a:off x="407822" y="2337119"/>
            <a:ext cx="8264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can we do ?</a:t>
            </a:r>
            <a:endParaRPr lang="fr-FR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DB3553F-1331-369B-C549-6CD0ED91536C}"/>
              </a:ext>
            </a:extLst>
          </p:cNvPr>
          <p:cNvSpPr txBox="1"/>
          <p:nvPr/>
        </p:nvSpPr>
        <p:spPr>
          <a:xfrm>
            <a:off x="577393" y="2864637"/>
            <a:ext cx="6605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Counterintuitively, cell-type parameters are explicitly included in the loss function as learnable components.</a:t>
            </a:r>
            <a:endParaRPr lang="fr-FR" dirty="0"/>
          </a:p>
        </p:txBody>
      </p:sp>
      <p:pic>
        <p:nvPicPr>
          <p:cNvPr id="14" name="Image 13" descr="The image depicts a mathematical expression where the relationship between variables ￅﾴij and Zi, Zj is defined by a complex formula involving exponential, quadratic, and multiplicative terms.&#10;&#10;Le contenu généré par l’IA peut être incorrect.">
            <a:extLst>
              <a:ext uri="{FF2B5EF4-FFF2-40B4-BE49-F238E27FC236}">
                <a16:creationId xmlns:a16="http://schemas.microsoft.com/office/drawing/2014/main" id="{75C67270-FBBE-72F6-D81A-234BEBF32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489" y="3944160"/>
            <a:ext cx="6890914" cy="14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434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546</Words>
  <Application>Microsoft Office PowerPoint</Application>
  <PresentationFormat>Grand écran</PresentationFormat>
  <Paragraphs>47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Aharoni</vt:lpstr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Pierrard</dc:creator>
  <cp:lastModifiedBy>Antoine Pierrard</cp:lastModifiedBy>
  <cp:revision>1</cp:revision>
  <dcterms:created xsi:type="dcterms:W3CDTF">2026-05-04T10:34:47Z</dcterms:created>
  <dcterms:modified xsi:type="dcterms:W3CDTF">2026-05-04T12:54:09Z</dcterms:modified>
</cp:coreProperties>
</file>